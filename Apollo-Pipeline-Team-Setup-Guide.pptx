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GATHER AI   ·   SALES OPERATIONS</a:t>
            </a:r>
          </a:p>
        </p:txBody>
      </p:sp>
      <p:sp>
        <p:nvSpPr>
          <p:cNvPr id="5" name="TextBox 4"/>
          <p:cNvSpPr txBox="1"/>
          <p:nvPr/>
        </p:nvSpPr>
        <p:spPr>
          <a:xfrm>
            <a:off x="822960" y="1828800"/>
            <a:ext cx="10515600" cy="914400"/>
          </a:xfrm>
          <a:prstGeom prst="rect">
            <a:avLst/>
          </a:prstGeom>
          <a:noFill/>
        </p:spPr>
        <p:txBody>
          <a:bodyPr wrap="square" anchor="t" lIns="0" rIns="0" tIns="0" bIns="0">
            <a:spAutoFit/>
          </a:bodyPr>
          <a:lstStyle/>
          <a:p>
            <a:pPr algn="l">
              <a:lnSpc>
                <a:spcPct val="100000"/>
              </a:lnSpc>
              <a:spcBef>
                <a:spcPts val="0"/>
              </a:spcBef>
              <a:spcAft>
                <a:spcPts val="0"/>
              </a:spcAft>
            </a:pPr>
            <a:r>
              <a:rPr sz="5000" b="1" i="0">
                <a:solidFill>
                  <a:srgbClr val="FFFFFF"/>
                </a:solidFill>
                <a:latin typeface="Trebuchet MS"/>
              </a:rPr>
              <a:t>The Self-Driving</a:t>
            </a:r>
          </a:p>
        </p:txBody>
      </p:sp>
      <p:sp>
        <p:nvSpPr>
          <p:cNvPr id="6" name="TextBox 5"/>
          <p:cNvSpPr txBox="1"/>
          <p:nvPr/>
        </p:nvSpPr>
        <p:spPr>
          <a:xfrm>
            <a:off x="822960" y="2606040"/>
            <a:ext cx="10515600" cy="914400"/>
          </a:xfrm>
          <a:prstGeom prst="rect">
            <a:avLst/>
          </a:prstGeom>
          <a:noFill/>
        </p:spPr>
        <p:txBody>
          <a:bodyPr wrap="square" anchor="t" lIns="0" rIns="0" tIns="0" bIns="0">
            <a:spAutoFit/>
          </a:bodyPr>
          <a:lstStyle/>
          <a:p>
            <a:pPr algn="l">
              <a:lnSpc>
                <a:spcPct val="100000"/>
              </a:lnSpc>
              <a:spcBef>
                <a:spcPts val="0"/>
              </a:spcBef>
              <a:spcAft>
                <a:spcPts val="0"/>
              </a:spcAft>
            </a:pPr>
            <a:r>
              <a:rPr sz="5000" b="1" i="0">
                <a:solidFill>
                  <a:srgbClr val="C9A227"/>
                </a:solidFill>
                <a:latin typeface="Trebuchet MS"/>
              </a:rPr>
              <a:t>Apollo Pipeline</a:t>
            </a:r>
          </a:p>
        </p:txBody>
      </p:sp>
      <p:sp>
        <p:nvSpPr>
          <p:cNvPr id="7" name="TextBox 6"/>
          <p:cNvSpPr txBox="1"/>
          <p:nvPr/>
        </p:nvSpPr>
        <p:spPr>
          <a:xfrm>
            <a:off x="822960" y="3703320"/>
            <a:ext cx="10058400" cy="457200"/>
          </a:xfrm>
          <a:prstGeom prst="rect">
            <a:avLst/>
          </a:prstGeom>
          <a:noFill/>
        </p:spPr>
        <p:txBody>
          <a:bodyPr wrap="square" anchor="t" lIns="0" rIns="0" tIns="0" bIns="0">
            <a:spAutoFit/>
          </a:bodyPr>
          <a:lstStyle/>
          <a:p>
            <a:pPr algn="l">
              <a:lnSpc>
                <a:spcPct val="100000"/>
              </a:lnSpc>
              <a:spcBef>
                <a:spcPts val="0"/>
              </a:spcBef>
              <a:spcAft>
                <a:spcPts val="400"/>
              </a:spcAft>
            </a:pPr>
            <a:r>
              <a:rPr sz="1700" b="0" i="0">
                <a:solidFill>
                  <a:srgbClr val="CADCFC"/>
                </a:solidFill>
                <a:latin typeface="Calibri"/>
              </a:rPr>
              <a:t>Team Setup Guide: stand up your own automated outbound with one command.</a:t>
            </a:r>
          </a:p>
        </p:txBody>
      </p:sp>
      <p:sp>
        <p:nvSpPr>
          <p:cNvPr id="8" name="TextBox 7"/>
          <p:cNvSpPr txBox="1"/>
          <p:nvPr/>
        </p:nvSpPr>
        <p:spPr>
          <a:xfrm>
            <a:off x="822960" y="4297680"/>
            <a:ext cx="9875520" cy="914400"/>
          </a:xfrm>
          <a:prstGeom prst="rect">
            <a:avLst/>
          </a:prstGeom>
          <a:noFill/>
        </p:spPr>
        <p:txBody>
          <a:bodyPr wrap="square" anchor="t" lIns="0" rIns="0" tIns="0" bIns="0">
            <a:spAutoFit/>
          </a:bodyPr>
          <a:lstStyle/>
          <a:p>
            <a:pPr algn="l">
              <a:lnSpc>
                <a:spcPct val="115000"/>
              </a:lnSpc>
              <a:spcBef>
                <a:spcPts val="0"/>
              </a:spcBef>
              <a:spcAft>
                <a:spcPts val="400"/>
              </a:spcAft>
            </a:pPr>
            <a:r>
              <a:rPr sz="1350" b="0" i="0">
                <a:solidFill>
                  <a:srgbClr val="9FB2CC"/>
                </a:solidFill>
                <a:latin typeface="Calibri"/>
              </a:rPr>
              <a:t>Every morning it finds 20 ICP contacts on your top account, writes a personalized email and call/LinkedIn script for each, and stages them in your Apollo sequence. You review and send.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WHAT YOU'RE STANDING UP</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One command builds your pipeline, every day</a:t>
            </a:r>
          </a:p>
        </p:txBody>
      </p:sp>
      <p:sp>
        <p:nvSpPr>
          <p:cNvPr id="5" name="Rounded Rectangle 4"/>
          <p:cNvSpPr/>
          <p:nvPr/>
        </p:nvSpPr>
        <p:spPr>
          <a:xfrm>
            <a:off x="640080" y="2286000"/>
            <a:ext cx="2121408" cy="201168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44751" y="2560320"/>
            <a:ext cx="512064" cy="512064"/>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44751" y="2560320"/>
            <a:ext cx="512064" cy="512064"/>
          </a:xfrm>
          <a:prstGeom prst="rect">
            <a:avLst/>
          </a:prstGeom>
          <a:noFill/>
        </p:spPr>
        <p:txBody>
          <a:bodyPr wrap="square" anchor="ctr" lIns="0" rIns="0" tIns="0" bIns="0">
            <a:spAutoFit/>
          </a:bodyPr>
          <a:lstStyle/>
          <a:p>
            <a:pPr algn="ctr">
              <a:lnSpc>
                <a:spcPct val="100000"/>
              </a:lnSpc>
              <a:spcBef>
                <a:spcPts val="0"/>
              </a:spcBef>
              <a:spcAft>
                <a:spcPts val="400"/>
              </a:spcAft>
            </a:pPr>
            <a:r>
              <a:rPr sz="2000" b="1" i="0">
                <a:solidFill>
                  <a:srgbClr val="C9A227"/>
                </a:solidFill>
                <a:latin typeface="Trebuchet MS"/>
              </a:rPr>
              <a:t>1</a:t>
            </a:r>
          </a:p>
        </p:txBody>
      </p:sp>
      <p:sp>
        <p:nvSpPr>
          <p:cNvPr id="8" name="TextBox 7"/>
          <p:cNvSpPr txBox="1"/>
          <p:nvPr/>
        </p:nvSpPr>
        <p:spPr>
          <a:xfrm>
            <a:off x="804671" y="3246120"/>
            <a:ext cx="1792224" cy="1005840"/>
          </a:xfrm>
          <a:prstGeom prst="rect">
            <a:avLst/>
          </a:prstGeom>
          <a:noFill/>
        </p:spPr>
        <p:txBody>
          <a:bodyPr wrap="square" anchor="t" lIns="0" rIns="0" tIns="0" bIns="0">
            <a:spAutoFit/>
          </a:bodyPr>
          <a:lstStyle/>
          <a:p>
            <a:pPr algn="ctr">
              <a:lnSpc>
                <a:spcPct val="105000"/>
              </a:lnSpc>
              <a:spcBef>
                <a:spcPts val="0"/>
              </a:spcBef>
              <a:spcAft>
                <a:spcPts val="400"/>
              </a:spcAft>
            </a:pPr>
            <a:r>
              <a:rPr sz="1400" b="1" i="0">
                <a:solidFill>
                  <a:srgbClr val="1A2B3C"/>
                </a:solidFill>
                <a:latin typeface="Calibri"/>
              </a:rPr>
              <a:t>Ranked account hopper</a:t>
            </a:r>
          </a:p>
        </p:txBody>
      </p:sp>
      <p:sp>
        <p:nvSpPr>
          <p:cNvPr id="9" name="TextBox 8"/>
          <p:cNvSpPr txBox="1"/>
          <p:nvPr/>
        </p:nvSpPr>
        <p:spPr>
          <a:xfrm>
            <a:off x="2761487" y="301752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Calibri"/>
              </a:rPr>
              <a:t>&gt;</a:t>
            </a:r>
          </a:p>
        </p:txBody>
      </p:sp>
      <p:sp>
        <p:nvSpPr>
          <p:cNvPr id="10" name="Rounded Rectangle 9"/>
          <p:cNvSpPr/>
          <p:nvPr/>
        </p:nvSpPr>
        <p:spPr>
          <a:xfrm>
            <a:off x="2944368" y="2286000"/>
            <a:ext cx="2121408" cy="201168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49039" y="2560320"/>
            <a:ext cx="512064" cy="512064"/>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2560320"/>
            <a:ext cx="512064" cy="512064"/>
          </a:xfrm>
          <a:prstGeom prst="rect">
            <a:avLst/>
          </a:prstGeom>
          <a:noFill/>
        </p:spPr>
        <p:txBody>
          <a:bodyPr wrap="square" anchor="ctr" lIns="0" rIns="0" tIns="0" bIns="0">
            <a:spAutoFit/>
          </a:bodyPr>
          <a:lstStyle/>
          <a:p>
            <a:pPr algn="ctr">
              <a:lnSpc>
                <a:spcPct val="100000"/>
              </a:lnSpc>
              <a:spcBef>
                <a:spcPts val="0"/>
              </a:spcBef>
              <a:spcAft>
                <a:spcPts val="400"/>
              </a:spcAft>
            </a:pPr>
            <a:r>
              <a:rPr sz="2000" b="1" i="0">
                <a:solidFill>
                  <a:srgbClr val="C9A227"/>
                </a:solidFill>
                <a:latin typeface="Trebuchet MS"/>
              </a:rPr>
              <a:t>2</a:t>
            </a:r>
          </a:p>
        </p:txBody>
      </p:sp>
      <p:sp>
        <p:nvSpPr>
          <p:cNvPr id="13" name="TextBox 12"/>
          <p:cNvSpPr txBox="1"/>
          <p:nvPr/>
        </p:nvSpPr>
        <p:spPr>
          <a:xfrm>
            <a:off x="3108960" y="3246120"/>
            <a:ext cx="1792224" cy="1005840"/>
          </a:xfrm>
          <a:prstGeom prst="rect">
            <a:avLst/>
          </a:prstGeom>
          <a:noFill/>
        </p:spPr>
        <p:txBody>
          <a:bodyPr wrap="square" anchor="t" lIns="0" rIns="0" tIns="0" bIns="0">
            <a:spAutoFit/>
          </a:bodyPr>
          <a:lstStyle/>
          <a:p>
            <a:pPr algn="ctr">
              <a:lnSpc>
                <a:spcPct val="105000"/>
              </a:lnSpc>
              <a:spcBef>
                <a:spcPts val="0"/>
              </a:spcBef>
              <a:spcAft>
                <a:spcPts val="400"/>
              </a:spcAft>
            </a:pPr>
            <a:r>
              <a:rPr sz="1400" b="1" i="0">
                <a:solidFill>
                  <a:srgbClr val="1A2B3C"/>
                </a:solidFill>
                <a:latin typeface="Calibri"/>
              </a:rPr>
              <a:t>Morning driver fires 7am</a:t>
            </a:r>
          </a:p>
        </p:txBody>
      </p:sp>
      <p:sp>
        <p:nvSpPr>
          <p:cNvPr id="14" name="TextBox 13"/>
          <p:cNvSpPr txBox="1"/>
          <p:nvPr/>
        </p:nvSpPr>
        <p:spPr>
          <a:xfrm>
            <a:off x="5065775" y="301752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Calibri"/>
              </a:rPr>
              <a:t>&gt;</a:t>
            </a:r>
          </a:p>
        </p:txBody>
      </p:sp>
      <p:sp>
        <p:nvSpPr>
          <p:cNvPr id="15" name="Rounded Rectangle 14"/>
          <p:cNvSpPr/>
          <p:nvPr/>
        </p:nvSpPr>
        <p:spPr>
          <a:xfrm>
            <a:off x="5248656" y="2286000"/>
            <a:ext cx="2121408" cy="201168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53328" y="2560320"/>
            <a:ext cx="512064" cy="512064"/>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560320"/>
            <a:ext cx="512064" cy="512064"/>
          </a:xfrm>
          <a:prstGeom prst="rect">
            <a:avLst/>
          </a:prstGeom>
          <a:noFill/>
        </p:spPr>
        <p:txBody>
          <a:bodyPr wrap="square" anchor="ctr" lIns="0" rIns="0" tIns="0" bIns="0">
            <a:spAutoFit/>
          </a:bodyPr>
          <a:lstStyle/>
          <a:p>
            <a:pPr algn="ctr">
              <a:lnSpc>
                <a:spcPct val="100000"/>
              </a:lnSpc>
              <a:spcBef>
                <a:spcPts val="0"/>
              </a:spcBef>
              <a:spcAft>
                <a:spcPts val="400"/>
              </a:spcAft>
            </a:pPr>
            <a:r>
              <a:rPr sz="2000" b="1" i="0">
                <a:solidFill>
                  <a:srgbClr val="C9A227"/>
                </a:solidFill>
                <a:latin typeface="Trebuchet MS"/>
              </a:rPr>
              <a:t>3</a:t>
            </a:r>
          </a:p>
        </p:txBody>
      </p:sp>
      <p:sp>
        <p:nvSpPr>
          <p:cNvPr id="18" name="TextBox 17"/>
          <p:cNvSpPr txBox="1"/>
          <p:nvPr/>
        </p:nvSpPr>
        <p:spPr>
          <a:xfrm>
            <a:off x="5413248" y="3246120"/>
            <a:ext cx="1792224" cy="1005840"/>
          </a:xfrm>
          <a:prstGeom prst="rect">
            <a:avLst/>
          </a:prstGeom>
          <a:noFill/>
        </p:spPr>
        <p:txBody>
          <a:bodyPr wrap="square" anchor="t" lIns="0" rIns="0" tIns="0" bIns="0">
            <a:spAutoFit/>
          </a:bodyPr>
          <a:lstStyle/>
          <a:p>
            <a:pPr algn="ctr">
              <a:lnSpc>
                <a:spcPct val="105000"/>
              </a:lnSpc>
              <a:spcBef>
                <a:spcPts val="0"/>
              </a:spcBef>
              <a:spcAft>
                <a:spcPts val="400"/>
              </a:spcAft>
            </a:pPr>
            <a:r>
              <a:rPr sz="1400" b="1" i="0">
                <a:solidFill>
                  <a:srgbClr val="1A2B3C"/>
                </a:solidFill>
                <a:latin typeface="Calibri"/>
              </a:rPr>
              <a:t>Research + 20 ICP contacts</a:t>
            </a:r>
          </a:p>
        </p:txBody>
      </p:sp>
      <p:sp>
        <p:nvSpPr>
          <p:cNvPr id="19" name="TextBox 18"/>
          <p:cNvSpPr txBox="1"/>
          <p:nvPr/>
        </p:nvSpPr>
        <p:spPr>
          <a:xfrm>
            <a:off x="7370064" y="301752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Calibri"/>
              </a:rPr>
              <a:t>&gt;</a:t>
            </a:r>
          </a:p>
        </p:txBody>
      </p:sp>
      <p:sp>
        <p:nvSpPr>
          <p:cNvPr id="20" name="Rounded Rectangle 19"/>
          <p:cNvSpPr/>
          <p:nvPr/>
        </p:nvSpPr>
        <p:spPr>
          <a:xfrm>
            <a:off x="7552944" y="2286000"/>
            <a:ext cx="2121408" cy="201168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57616" y="2560320"/>
            <a:ext cx="512064" cy="512064"/>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7616" y="2560320"/>
            <a:ext cx="512064" cy="512064"/>
          </a:xfrm>
          <a:prstGeom prst="rect">
            <a:avLst/>
          </a:prstGeom>
          <a:noFill/>
        </p:spPr>
        <p:txBody>
          <a:bodyPr wrap="square" anchor="ctr" lIns="0" rIns="0" tIns="0" bIns="0">
            <a:spAutoFit/>
          </a:bodyPr>
          <a:lstStyle/>
          <a:p>
            <a:pPr algn="ctr">
              <a:lnSpc>
                <a:spcPct val="100000"/>
              </a:lnSpc>
              <a:spcBef>
                <a:spcPts val="0"/>
              </a:spcBef>
              <a:spcAft>
                <a:spcPts val="400"/>
              </a:spcAft>
            </a:pPr>
            <a:r>
              <a:rPr sz="2000" b="1" i="0">
                <a:solidFill>
                  <a:srgbClr val="C9A227"/>
                </a:solidFill>
                <a:latin typeface="Trebuchet MS"/>
              </a:rPr>
              <a:t>4</a:t>
            </a:r>
          </a:p>
        </p:txBody>
      </p:sp>
      <p:sp>
        <p:nvSpPr>
          <p:cNvPr id="23" name="TextBox 22"/>
          <p:cNvSpPr txBox="1"/>
          <p:nvPr/>
        </p:nvSpPr>
        <p:spPr>
          <a:xfrm>
            <a:off x="7717536" y="3246120"/>
            <a:ext cx="1792224" cy="1005840"/>
          </a:xfrm>
          <a:prstGeom prst="rect">
            <a:avLst/>
          </a:prstGeom>
          <a:noFill/>
        </p:spPr>
        <p:txBody>
          <a:bodyPr wrap="square" anchor="t" lIns="0" rIns="0" tIns="0" bIns="0">
            <a:spAutoFit/>
          </a:bodyPr>
          <a:lstStyle/>
          <a:p>
            <a:pPr algn="ctr">
              <a:lnSpc>
                <a:spcPct val="105000"/>
              </a:lnSpc>
              <a:spcBef>
                <a:spcPts val="0"/>
              </a:spcBef>
              <a:spcAft>
                <a:spcPts val="400"/>
              </a:spcAft>
            </a:pPr>
            <a:r>
              <a:rPr sz="1400" b="1" i="0">
                <a:solidFill>
                  <a:srgbClr val="1A2B3C"/>
                </a:solidFill>
                <a:latin typeface="Calibri"/>
              </a:rPr>
              <a:t>Personalized email + scripts</a:t>
            </a:r>
          </a:p>
        </p:txBody>
      </p:sp>
      <p:sp>
        <p:nvSpPr>
          <p:cNvPr id="24" name="TextBox 23"/>
          <p:cNvSpPr txBox="1"/>
          <p:nvPr/>
        </p:nvSpPr>
        <p:spPr>
          <a:xfrm>
            <a:off x="9674352" y="301752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Calibri"/>
              </a:rPr>
              <a:t>&gt;</a:t>
            </a:r>
          </a:p>
        </p:txBody>
      </p:sp>
      <p:sp>
        <p:nvSpPr>
          <p:cNvPr id="25" name="Rounded Rectangle 24"/>
          <p:cNvSpPr/>
          <p:nvPr/>
        </p:nvSpPr>
        <p:spPr>
          <a:xfrm>
            <a:off x="9857232" y="2286000"/>
            <a:ext cx="2121408" cy="201168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61904" y="2560320"/>
            <a:ext cx="512064" cy="512064"/>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61904" y="2560320"/>
            <a:ext cx="512064" cy="512064"/>
          </a:xfrm>
          <a:prstGeom prst="rect">
            <a:avLst/>
          </a:prstGeom>
          <a:noFill/>
        </p:spPr>
        <p:txBody>
          <a:bodyPr wrap="square" anchor="ctr" lIns="0" rIns="0" tIns="0" bIns="0">
            <a:spAutoFit/>
          </a:bodyPr>
          <a:lstStyle/>
          <a:p>
            <a:pPr algn="ctr">
              <a:lnSpc>
                <a:spcPct val="100000"/>
              </a:lnSpc>
              <a:spcBef>
                <a:spcPts val="0"/>
              </a:spcBef>
              <a:spcAft>
                <a:spcPts val="400"/>
              </a:spcAft>
            </a:pPr>
            <a:r>
              <a:rPr sz="2000" b="1" i="0">
                <a:solidFill>
                  <a:srgbClr val="C9A227"/>
                </a:solidFill>
                <a:latin typeface="Trebuchet MS"/>
              </a:rPr>
              <a:t>5</a:t>
            </a:r>
          </a:p>
        </p:txBody>
      </p:sp>
      <p:sp>
        <p:nvSpPr>
          <p:cNvPr id="28" name="TextBox 27"/>
          <p:cNvSpPr txBox="1"/>
          <p:nvPr/>
        </p:nvSpPr>
        <p:spPr>
          <a:xfrm>
            <a:off x="10021824" y="3246120"/>
            <a:ext cx="1792224" cy="1005840"/>
          </a:xfrm>
          <a:prstGeom prst="rect">
            <a:avLst/>
          </a:prstGeom>
          <a:noFill/>
        </p:spPr>
        <p:txBody>
          <a:bodyPr wrap="square" anchor="t" lIns="0" rIns="0" tIns="0" bIns="0">
            <a:spAutoFit/>
          </a:bodyPr>
          <a:lstStyle/>
          <a:p>
            <a:pPr algn="ctr">
              <a:lnSpc>
                <a:spcPct val="105000"/>
              </a:lnSpc>
              <a:spcBef>
                <a:spcPts val="0"/>
              </a:spcBef>
              <a:spcAft>
                <a:spcPts val="400"/>
              </a:spcAft>
            </a:pPr>
            <a:r>
              <a:rPr sz="1400" b="1" i="0">
                <a:solidFill>
                  <a:srgbClr val="1A2B3C"/>
                </a:solidFill>
                <a:latin typeface="Calibri"/>
              </a:rPr>
              <a:t>Staged in Apollo + Slack you</a:t>
            </a:r>
          </a:p>
        </p:txBody>
      </p:sp>
      <p:sp>
        <p:nvSpPr>
          <p:cNvPr id="29" name="TextBox 28"/>
          <p:cNvSpPr txBox="1"/>
          <p:nvPr/>
        </p:nvSpPr>
        <p:spPr>
          <a:xfrm>
            <a:off x="640080" y="466344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0" i="1">
                <a:solidFill>
                  <a:srgbClr val="5B6B7B"/>
                </a:solidFill>
                <a:latin typeface="Calibri"/>
              </a:rPr>
              <a:t>You stay the human gate on send. The system does the finding, writing, and staging.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BEFORE YOU START</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What you need connected in Cowork</a:t>
            </a:r>
          </a:p>
        </p:txBody>
      </p:sp>
      <p:sp>
        <p:nvSpPr>
          <p:cNvPr id="5" name="Rounded Rectangle 4"/>
          <p:cNvSpPr/>
          <p:nvPr/>
        </p:nvSpPr>
        <p:spPr>
          <a:xfrm>
            <a:off x="640080" y="2194560"/>
            <a:ext cx="2121408" cy="219456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194560"/>
            <a:ext cx="2121408"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560320"/>
            <a:ext cx="1755648"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0A2540"/>
                </a:solidFill>
                <a:latin typeface="Trebuchet MS"/>
              </a:rPr>
              <a:t>Claude</a:t>
            </a:r>
          </a:p>
        </p:txBody>
      </p:sp>
      <p:sp>
        <p:nvSpPr>
          <p:cNvPr id="8" name="TextBox 7"/>
          <p:cNvSpPr txBox="1"/>
          <p:nvPr/>
        </p:nvSpPr>
        <p:spPr>
          <a:xfrm>
            <a:off x="822959" y="3154680"/>
            <a:ext cx="1755648" cy="10972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5B6B7B"/>
                </a:solidFill>
                <a:latin typeface="Calibri"/>
              </a:rPr>
              <a:t>Runs the whole pipeline and your scheduled tasks</a:t>
            </a:r>
          </a:p>
        </p:txBody>
      </p:sp>
      <p:sp>
        <p:nvSpPr>
          <p:cNvPr id="9" name="Rounded Rectangle 8"/>
          <p:cNvSpPr/>
          <p:nvPr/>
        </p:nvSpPr>
        <p:spPr>
          <a:xfrm>
            <a:off x="2944368" y="2194560"/>
            <a:ext cx="2121408" cy="219456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44368" y="2194560"/>
            <a:ext cx="2121408"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7248" y="2560320"/>
            <a:ext cx="1755648"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0A2540"/>
                </a:solidFill>
                <a:latin typeface="Trebuchet MS"/>
              </a:rPr>
              <a:t>Apollo</a:t>
            </a:r>
          </a:p>
        </p:txBody>
      </p:sp>
      <p:sp>
        <p:nvSpPr>
          <p:cNvPr id="12" name="TextBox 11"/>
          <p:cNvSpPr txBox="1"/>
          <p:nvPr/>
        </p:nvSpPr>
        <p:spPr>
          <a:xfrm>
            <a:off x="3127248" y="3154680"/>
            <a:ext cx="1755648" cy="10972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5B6B7B"/>
                </a:solidFill>
                <a:latin typeface="Calibri"/>
              </a:rPr>
              <a:t>Sequence engine, contacts, sending</a:t>
            </a:r>
          </a:p>
        </p:txBody>
      </p:sp>
      <p:sp>
        <p:nvSpPr>
          <p:cNvPr id="13" name="Rounded Rectangle 12"/>
          <p:cNvSpPr/>
          <p:nvPr/>
        </p:nvSpPr>
        <p:spPr>
          <a:xfrm>
            <a:off x="5248656" y="2194560"/>
            <a:ext cx="2121408" cy="219456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48656" y="2194560"/>
            <a:ext cx="2121408"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31536" y="2560320"/>
            <a:ext cx="1755648"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0A2540"/>
                </a:solidFill>
                <a:latin typeface="Trebuchet MS"/>
              </a:rPr>
              <a:t>Clay</a:t>
            </a:r>
          </a:p>
        </p:txBody>
      </p:sp>
      <p:sp>
        <p:nvSpPr>
          <p:cNvPr id="16" name="TextBox 15"/>
          <p:cNvSpPr txBox="1"/>
          <p:nvPr/>
        </p:nvSpPr>
        <p:spPr>
          <a:xfrm>
            <a:off x="5431536" y="3154680"/>
            <a:ext cx="1755648" cy="10972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5B6B7B"/>
                </a:solidFill>
                <a:latin typeface="Calibri"/>
              </a:rPr>
              <a:t>Finds and enriches ICP contacts</a:t>
            </a:r>
          </a:p>
        </p:txBody>
      </p:sp>
      <p:sp>
        <p:nvSpPr>
          <p:cNvPr id="17" name="Rounded Rectangle 16"/>
          <p:cNvSpPr/>
          <p:nvPr/>
        </p:nvSpPr>
        <p:spPr>
          <a:xfrm>
            <a:off x="7552944" y="2194560"/>
            <a:ext cx="2121408" cy="219456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52944" y="2194560"/>
            <a:ext cx="2121408"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35823" y="2560320"/>
            <a:ext cx="1755648"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0A2540"/>
                </a:solidFill>
                <a:latin typeface="Trebuchet MS"/>
              </a:rPr>
              <a:t>Gmail</a:t>
            </a:r>
          </a:p>
        </p:txBody>
      </p:sp>
      <p:sp>
        <p:nvSpPr>
          <p:cNvPr id="20" name="TextBox 19"/>
          <p:cNvSpPr txBox="1"/>
          <p:nvPr/>
        </p:nvSpPr>
        <p:spPr>
          <a:xfrm>
            <a:off x="7735823" y="3154680"/>
            <a:ext cx="1755648" cy="10972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5B6B7B"/>
                </a:solidFill>
                <a:latin typeface="Calibri"/>
              </a:rPr>
              <a:t>Sends + the reply watcher reads it</a:t>
            </a:r>
          </a:p>
        </p:txBody>
      </p:sp>
      <p:sp>
        <p:nvSpPr>
          <p:cNvPr id="21" name="Rounded Rectangle 20"/>
          <p:cNvSpPr/>
          <p:nvPr/>
        </p:nvSpPr>
        <p:spPr>
          <a:xfrm>
            <a:off x="9857232" y="2194560"/>
            <a:ext cx="2121408" cy="219456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857232" y="2194560"/>
            <a:ext cx="2121408"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40111" y="2560320"/>
            <a:ext cx="1755648"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0A2540"/>
                </a:solidFill>
                <a:latin typeface="Trebuchet MS"/>
              </a:rPr>
              <a:t>Slack</a:t>
            </a:r>
          </a:p>
        </p:txBody>
      </p:sp>
      <p:sp>
        <p:nvSpPr>
          <p:cNvPr id="24" name="TextBox 23"/>
          <p:cNvSpPr txBox="1"/>
          <p:nvPr/>
        </p:nvSpPr>
        <p:spPr>
          <a:xfrm>
            <a:off x="10040111" y="3154680"/>
            <a:ext cx="1755648" cy="1097280"/>
          </a:xfrm>
          <a:prstGeom prst="rect">
            <a:avLst/>
          </a:prstGeom>
          <a:noFill/>
        </p:spPr>
        <p:txBody>
          <a:bodyPr wrap="square" anchor="t" lIns="0" rIns="0" tIns="0" bIns="0">
            <a:spAutoFit/>
          </a:bodyPr>
          <a:lstStyle/>
          <a:p>
            <a:pPr algn="l">
              <a:lnSpc>
                <a:spcPct val="110000"/>
              </a:lnSpc>
              <a:spcBef>
                <a:spcPts val="0"/>
              </a:spcBef>
              <a:spcAft>
                <a:spcPts val="400"/>
              </a:spcAft>
            </a:pPr>
            <a:r>
              <a:rPr sz="1250" b="0" i="0">
                <a:solidFill>
                  <a:srgbClr val="5B6B7B"/>
                </a:solidFill>
                <a:latin typeface="Calibri"/>
              </a:rPr>
              <a:t>Where the system reports to you</a:t>
            </a:r>
          </a:p>
        </p:txBody>
      </p:sp>
      <p:sp>
        <p:nvSpPr>
          <p:cNvPr id="25" name="TextBox 24"/>
          <p:cNvSpPr txBox="1"/>
          <p:nvPr/>
        </p:nvSpPr>
        <p:spPr>
          <a:xfrm>
            <a:off x="640080" y="4846320"/>
            <a:ext cx="10972800" cy="457200"/>
          </a:xfrm>
          <a:prstGeom prst="rect">
            <a:avLst/>
          </a:prstGeom>
          <a:noFill/>
        </p:spPr>
        <p:txBody>
          <a:bodyPr wrap="square" anchor="t" lIns="0" rIns="0" tIns="0" bIns="0">
            <a:spAutoFit/>
          </a:bodyPr>
          <a:lstStyle/>
          <a:p>
            <a:pPr algn="l">
              <a:lnSpc>
                <a:spcPct val="100000"/>
              </a:lnSpc>
              <a:spcBef>
                <a:spcPts val="0"/>
              </a:spcBef>
              <a:spcAft>
                <a:spcPts val="400"/>
              </a:spcAft>
            </a:pPr>
            <a:r>
              <a:rPr sz="1400" b="0" i="1">
                <a:solidFill>
                  <a:srgbClr val="5B6B7B"/>
                </a:solidFill>
                <a:latin typeface="Calibri"/>
              </a:rPr>
              <a:t>Missing one? Connect it in Cowork first. Apollo and Clay do the heavy lifting.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HOW IT WORKS</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The architecture, end to end</a:t>
            </a:r>
          </a:p>
        </p:txBody>
      </p:sp>
      <p:sp>
        <p:nvSpPr>
          <p:cNvPr id="5" name="Rounded Rectangle 4"/>
          <p:cNvSpPr/>
          <p:nvPr/>
        </p:nvSpPr>
        <p:spPr>
          <a:xfrm>
            <a:off x="640080" y="2011680"/>
            <a:ext cx="3566160" cy="1554480"/>
          </a:xfrm>
          <a:prstGeom prst="roundRect">
            <a:avLst/>
          </a:prstGeom>
          <a:solidFill>
            <a:srgbClr val="0A2540"/>
          </a:solidFill>
          <a:ln>
            <a:no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67712"/>
            <a:ext cx="310896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C9A227"/>
                </a:solidFill>
                <a:latin typeface="Trebuchet MS"/>
              </a:rPr>
              <a:t>HOPPER</a:t>
            </a:r>
          </a:p>
        </p:txBody>
      </p:sp>
      <p:sp>
        <p:nvSpPr>
          <p:cNvPr id="7" name="TextBox 6"/>
          <p:cNvSpPr txBox="1"/>
          <p:nvPr/>
        </p:nvSpPr>
        <p:spPr>
          <a:xfrm>
            <a:off x="868680" y="2724912"/>
            <a:ext cx="3108960" cy="7315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CADCFC"/>
                </a:solidFill>
                <a:latin typeface="Calibri"/>
              </a:rPr>
              <a:t>Your accounts scored Fit x Signal, ranked best-first</a:t>
            </a:r>
          </a:p>
        </p:txBody>
      </p:sp>
      <p:sp>
        <p:nvSpPr>
          <p:cNvPr id="8" name="TextBox 7"/>
          <p:cNvSpPr txBox="1"/>
          <p:nvPr/>
        </p:nvSpPr>
        <p:spPr>
          <a:xfrm>
            <a:off x="4256531" y="251460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0A2540"/>
                </a:solidFill>
                <a:latin typeface="Calibri"/>
              </a:rPr>
              <a:t>&gt;</a:t>
            </a:r>
          </a:p>
        </p:txBody>
      </p:sp>
      <p:sp>
        <p:nvSpPr>
          <p:cNvPr id="9" name="Rounded Rectangle 8"/>
          <p:cNvSpPr/>
          <p:nvPr/>
        </p:nvSpPr>
        <p:spPr>
          <a:xfrm>
            <a:off x="4526280" y="2011680"/>
            <a:ext cx="3566160" cy="1554480"/>
          </a:xfrm>
          <a:prstGeom prst="roundRect">
            <a:avLst/>
          </a:prstGeom>
          <a:solidFill>
            <a:srgbClr val="0A2540"/>
          </a:solidFill>
          <a:ln>
            <a:no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267712"/>
            <a:ext cx="310896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C9A227"/>
                </a:solidFill>
                <a:latin typeface="Trebuchet MS"/>
              </a:rPr>
              <a:t>MORNING DRIVER</a:t>
            </a:r>
          </a:p>
        </p:txBody>
      </p:sp>
      <p:sp>
        <p:nvSpPr>
          <p:cNvPr id="11" name="TextBox 10"/>
          <p:cNvSpPr txBox="1"/>
          <p:nvPr/>
        </p:nvSpPr>
        <p:spPr>
          <a:xfrm>
            <a:off x="4754880" y="2724912"/>
            <a:ext cx="3108960" cy="7315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CADCFC"/>
                </a:solidFill>
                <a:latin typeface="Calibri"/>
              </a:rPr>
              <a:t>Scheduled task, fires every weekday at 7am</a:t>
            </a:r>
          </a:p>
        </p:txBody>
      </p:sp>
      <p:sp>
        <p:nvSpPr>
          <p:cNvPr id="12" name="TextBox 11"/>
          <p:cNvSpPr txBox="1"/>
          <p:nvPr/>
        </p:nvSpPr>
        <p:spPr>
          <a:xfrm>
            <a:off x="8142732" y="2514600"/>
            <a:ext cx="27432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0A2540"/>
                </a:solidFill>
                <a:latin typeface="Calibri"/>
              </a:rPr>
              <a:t>&gt;</a:t>
            </a:r>
          </a:p>
        </p:txBody>
      </p:sp>
      <p:sp>
        <p:nvSpPr>
          <p:cNvPr id="13" name="Rounded Rectangle 12"/>
          <p:cNvSpPr/>
          <p:nvPr/>
        </p:nvSpPr>
        <p:spPr>
          <a:xfrm>
            <a:off x="8412480" y="2011680"/>
            <a:ext cx="3566160" cy="1554480"/>
          </a:xfrm>
          <a:prstGeom prst="roundRect">
            <a:avLst/>
          </a:prstGeom>
          <a:solidFill>
            <a:srgbClr val="0A2540"/>
          </a:solidFill>
          <a:ln>
            <a:no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2267712"/>
            <a:ext cx="310896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C9A227"/>
                </a:solidFill>
                <a:latin typeface="Trebuchet MS"/>
              </a:rPr>
              <a:t>APOLLO SEQUENCE</a:t>
            </a:r>
          </a:p>
        </p:txBody>
      </p:sp>
      <p:sp>
        <p:nvSpPr>
          <p:cNvPr id="15" name="TextBox 14"/>
          <p:cNvSpPr txBox="1"/>
          <p:nvPr/>
        </p:nvSpPr>
        <p:spPr>
          <a:xfrm>
            <a:off x="8641080" y="2724912"/>
            <a:ext cx="3108960" cy="7315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CADCFC"/>
                </a:solidFill>
                <a:latin typeface="Calibri"/>
              </a:rPr>
              <a:t>20 contacts staged, paused for your review</a:t>
            </a:r>
          </a:p>
        </p:txBody>
      </p:sp>
      <p:sp>
        <p:nvSpPr>
          <p:cNvPr id="16" name="Rounded Rectangle 15"/>
          <p:cNvSpPr/>
          <p:nvPr/>
        </p:nvSpPr>
        <p:spPr>
          <a:xfrm>
            <a:off x="640080" y="4114800"/>
            <a:ext cx="5486400" cy="137160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114800"/>
            <a:ext cx="10972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343400"/>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A2540"/>
                </a:solidFill>
                <a:latin typeface="Trebuchet MS"/>
              </a:rPr>
              <a:t>THE GATE decides per account</a:t>
            </a:r>
          </a:p>
        </p:txBody>
      </p:sp>
      <p:sp>
        <p:nvSpPr>
          <p:cNvPr id="19" name="TextBox 18"/>
          <p:cNvSpPr txBox="1"/>
          <p:nvPr/>
        </p:nvSpPr>
        <p:spPr>
          <a:xfrm>
            <a:off x="914400" y="4800600"/>
            <a:ext cx="5029200" cy="5943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5B6B7B"/>
                </a:solidFill>
                <a:latin typeface="Calibri"/>
              </a:rPr>
              <a:t>STRIKE = you approve before send.  NURTURE / QUALIFY = auto.</a:t>
            </a:r>
          </a:p>
        </p:txBody>
      </p:sp>
      <p:sp>
        <p:nvSpPr>
          <p:cNvPr id="20" name="Rounded Rectangle 19"/>
          <p:cNvSpPr/>
          <p:nvPr/>
        </p:nvSpPr>
        <p:spPr>
          <a:xfrm>
            <a:off x="6428232" y="4114800"/>
            <a:ext cx="5486400" cy="137160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28232" y="4114800"/>
            <a:ext cx="10972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02552" y="4343400"/>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400" b="1" i="0">
                <a:solidFill>
                  <a:srgbClr val="0A2540"/>
                </a:solidFill>
                <a:latin typeface="Trebuchet MS"/>
              </a:rPr>
              <a:t>RESPONSE WATCHER</a:t>
            </a:r>
          </a:p>
        </p:txBody>
      </p:sp>
      <p:sp>
        <p:nvSpPr>
          <p:cNvPr id="23" name="TextBox 22"/>
          <p:cNvSpPr txBox="1"/>
          <p:nvPr/>
        </p:nvSpPr>
        <p:spPr>
          <a:xfrm>
            <a:off x="6702552" y="4800600"/>
            <a:ext cx="5029200" cy="594360"/>
          </a:xfrm>
          <a:prstGeom prst="rect">
            <a:avLst/>
          </a:prstGeom>
          <a:noFill/>
        </p:spPr>
        <p:txBody>
          <a:bodyPr wrap="square" anchor="t" lIns="0" rIns="0" tIns="0" bIns="0">
            <a:spAutoFit/>
          </a:bodyPr>
          <a:lstStyle/>
          <a:p>
            <a:pPr algn="l">
              <a:lnSpc>
                <a:spcPct val="110000"/>
              </a:lnSpc>
              <a:spcBef>
                <a:spcPts val="0"/>
              </a:spcBef>
              <a:spcAft>
                <a:spcPts val="400"/>
              </a:spcAft>
            </a:pPr>
            <a:r>
              <a:rPr sz="1300" b="0" i="0">
                <a:solidFill>
                  <a:srgbClr val="5B6B7B"/>
                </a:solidFill>
                <a:latin typeface="Calibri"/>
              </a:rPr>
              <a:t>Reads Gmail every 15 min, scores replies, Slacks you.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5156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SETUP IS ONE COMMAND</a:t>
            </a:r>
          </a:p>
        </p:txBody>
      </p:sp>
      <p:sp>
        <p:nvSpPr>
          <p:cNvPr id="5" name="TextBox 4"/>
          <p:cNvSpPr txBox="1"/>
          <p:nvPr/>
        </p:nvSpPr>
        <p:spPr>
          <a:xfrm>
            <a:off x="822960" y="1554480"/>
            <a:ext cx="10058400" cy="548640"/>
          </a:xfrm>
          <a:prstGeom prst="rect">
            <a:avLst/>
          </a:prstGeom>
          <a:noFill/>
        </p:spPr>
        <p:txBody>
          <a:bodyPr wrap="square" anchor="t" lIns="0" rIns="0" tIns="0" bIns="0">
            <a:spAutoFit/>
          </a:bodyPr>
          <a:lstStyle/>
          <a:p>
            <a:pPr algn="l">
              <a:lnSpc>
                <a:spcPct val="100000"/>
              </a:lnSpc>
              <a:spcBef>
                <a:spcPts val="0"/>
              </a:spcBef>
              <a:spcAft>
                <a:spcPts val="400"/>
              </a:spcAft>
            </a:pPr>
            <a:r>
              <a:rPr sz="2000" b="0" i="0">
                <a:solidFill>
                  <a:srgbClr val="CADCFC"/>
                </a:solidFill>
                <a:latin typeface="Calibri"/>
              </a:rPr>
              <a:t>Install the skill, then type:</a:t>
            </a:r>
          </a:p>
        </p:txBody>
      </p:sp>
      <p:sp>
        <p:nvSpPr>
          <p:cNvPr id="6" name="Rounded Rectangle 5"/>
          <p:cNvSpPr/>
          <p:nvPr/>
        </p:nvSpPr>
        <p:spPr>
          <a:xfrm>
            <a:off x="822960" y="2286000"/>
            <a:ext cx="10515600" cy="1280160"/>
          </a:xfrm>
          <a:prstGeom prst="roundRect">
            <a:avLst/>
          </a:prstGeom>
          <a:solidFill>
            <a:srgbClr val="0E2238"/>
          </a:solidFill>
          <a:ln w="19050">
            <a:solidFill>
              <a:srgbClr val="C9A227"/>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1280160"/>
          </a:xfrm>
          <a:prstGeom prst="rect">
            <a:avLst/>
          </a:prstGeom>
          <a:noFill/>
        </p:spPr>
        <p:txBody>
          <a:bodyPr wrap="square" anchor="ctr" lIns="0" rIns="0" tIns="0" bIns="0">
            <a:spAutoFit/>
          </a:bodyPr>
          <a:lstStyle/>
          <a:p>
            <a:pPr algn="ctr">
              <a:lnSpc>
                <a:spcPct val="100000"/>
              </a:lnSpc>
              <a:spcBef>
                <a:spcPts val="0"/>
              </a:spcBef>
              <a:spcAft>
                <a:spcPts val="400"/>
              </a:spcAft>
            </a:pPr>
            <a:r>
              <a:rPr sz="4400" b="1" i="0">
                <a:solidFill>
                  <a:srgbClr val="C9A227"/>
                </a:solidFill>
                <a:latin typeface="Courier New"/>
              </a:rPr>
              <a:t>run apollo setup</a:t>
            </a:r>
          </a:p>
        </p:txBody>
      </p:sp>
      <p:sp>
        <p:nvSpPr>
          <p:cNvPr id="8" name="TextBox 7"/>
          <p:cNvSpPr txBox="1"/>
          <p:nvPr/>
        </p:nvSpPr>
        <p:spPr>
          <a:xfrm>
            <a:off x="822960" y="3931920"/>
            <a:ext cx="10424160" cy="1280160"/>
          </a:xfrm>
          <a:prstGeom prst="rect">
            <a:avLst/>
          </a:prstGeom>
          <a:noFill/>
        </p:spPr>
        <p:txBody>
          <a:bodyPr wrap="square" anchor="t" lIns="0" rIns="0" tIns="0" bIns="0">
            <a:spAutoFit/>
          </a:bodyPr>
          <a:lstStyle/>
          <a:p>
            <a:pPr algn="l">
              <a:lnSpc>
                <a:spcPct val="120000"/>
              </a:lnSpc>
              <a:spcBef>
                <a:spcPts val="0"/>
              </a:spcBef>
              <a:spcAft>
                <a:spcPts val="400"/>
              </a:spcAft>
            </a:pPr>
            <a:r>
              <a:rPr sz="1500" b="0" i="0">
                <a:solidFill>
                  <a:srgbClr val="CADCFC"/>
                </a:solidFill>
                <a:latin typeface="Calibri"/>
              </a:rPr>
              <a:t>Claude then scaffolds your workspace, finds your Slack and Apollo IDs, writes your config, scores your accounts into the hopper, and registers your morning driver and weekly digest. It stops only for the three things a human must do.</a:t>
            </a:r>
          </a:p>
        </p:txBody>
      </p:sp>
      <p:sp>
        <p:nvSpPr>
          <p:cNvPr id="9" name="TextBox 8"/>
          <p:cNvSpPr txBox="1"/>
          <p:nvPr/>
        </p:nvSpPr>
        <p:spPr>
          <a:xfrm>
            <a:off x="822960" y="5394960"/>
            <a:ext cx="10424160" cy="54864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C9A227"/>
                </a:solidFill>
                <a:latin typeface="Calibri"/>
              </a:rPr>
              <a:t>First time only:  </a:t>
            </a:r>
          </a:p>
          <a:p>
            <a:pPr algn="l">
              <a:lnSpc>
                <a:spcPct val="100000"/>
              </a:lnSpc>
              <a:spcBef>
                <a:spcPts val="0"/>
              </a:spcBef>
              <a:spcAft>
                <a:spcPts val="400"/>
              </a:spcAft>
            </a:pPr>
            <a:r>
              <a:rPr sz="1300" b="0" i="0">
                <a:solidFill>
                  <a:srgbClr val="9FB2CC"/>
                </a:solidFill>
                <a:latin typeface="Calibri"/>
              </a:rPr>
              <a:t>install the apollo-onboard skill via the Cowork skill installer (it ships in this folder).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WHAT "RUN APOLLO SETUP" DOES FOR YOU</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Automatic, no work from you</a:t>
            </a:r>
          </a:p>
        </p:txBody>
      </p:sp>
      <p:sp>
        <p:nvSpPr>
          <p:cNvPr id="5" name="Rounded Rectangle 4"/>
          <p:cNvSpPr/>
          <p:nvPr/>
        </p:nvSpPr>
        <p:spPr>
          <a:xfrm>
            <a:off x="640080" y="20116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7" y="24368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4277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8" name="TextBox 7"/>
          <p:cNvSpPr txBox="1"/>
          <p:nvPr/>
        </p:nvSpPr>
        <p:spPr>
          <a:xfrm>
            <a:off x="1280160" y="21579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Scaffolds the workspace</a:t>
            </a:r>
          </a:p>
        </p:txBody>
      </p:sp>
      <p:sp>
        <p:nvSpPr>
          <p:cNvPr id="9" name="TextBox 8"/>
          <p:cNvSpPr txBox="1"/>
          <p:nvPr/>
        </p:nvSpPr>
        <p:spPr>
          <a:xfrm>
            <a:off x="1280160" y="25420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Creates your state, runs, and hopper files in one go.</a:t>
            </a:r>
          </a:p>
        </p:txBody>
      </p:sp>
      <p:sp>
        <p:nvSpPr>
          <p:cNvPr id="10" name="Rounded Rectangle 9"/>
          <p:cNvSpPr/>
          <p:nvPr/>
        </p:nvSpPr>
        <p:spPr>
          <a:xfrm>
            <a:off x="6309359" y="20116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10527" y="24368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7" y="24277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13" name="TextBox 12"/>
          <p:cNvSpPr txBox="1"/>
          <p:nvPr/>
        </p:nvSpPr>
        <p:spPr>
          <a:xfrm>
            <a:off x="6949440" y="21579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Finds your IDs</a:t>
            </a:r>
          </a:p>
        </p:txBody>
      </p:sp>
      <p:sp>
        <p:nvSpPr>
          <p:cNvPr id="14" name="TextBox 13"/>
          <p:cNvSpPr txBox="1"/>
          <p:nvPr/>
        </p:nvSpPr>
        <p:spPr>
          <a:xfrm>
            <a:off x="6949440" y="25420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Looks up your Slack ID and Apollo mailbox, finds or creates your sequence.</a:t>
            </a:r>
          </a:p>
        </p:txBody>
      </p:sp>
      <p:sp>
        <p:nvSpPr>
          <p:cNvPr id="15" name="Rounded Rectangle 14"/>
          <p:cNvSpPr/>
          <p:nvPr/>
        </p:nvSpPr>
        <p:spPr>
          <a:xfrm>
            <a:off x="640080" y="33832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1247" y="38084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37993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18" name="TextBox 17"/>
          <p:cNvSpPr txBox="1"/>
          <p:nvPr/>
        </p:nvSpPr>
        <p:spPr>
          <a:xfrm>
            <a:off x="1280160" y="35295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Writes your config</a:t>
            </a:r>
          </a:p>
        </p:txBody>
      </p:sp>
      <p:sp>
        <p:nvSpPr>
          <p:cNvPr id="19" name="TextBox 18"/>
          <p:cNvSpPr txBox="1"/>
          <p:nvPr/>
        </p:nvSpPr>
        <p:spPr>
          <a:xfrm>
            <a:off x="1280160" y="39136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Fills rep_config and apollo_config with your identity. No copy-paste.</a:t>
            </a:r>
          </a:p>
        </p:txBody>
      </p:sp>
      <p:sp>
        <p:nvSpPr>
          <p:cNvPr id="20" name="Rounded Rectangle 19"/>
          <p:cNvSpPr/>
          <p:nvPr/>
        </p:nvSpPr>
        <p:spPr>
          <a:xfrm>
            <a:off x="6309359" y="33832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10527" y="38084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7" y="37993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23" name="TextBox 22"/>
          <p:cNvSpPr txBox="1"/>
          <p:nvPr/>
        </p:nvSpPr>
        <p:spPr>
          <a:xfrm>
            <a:off x="6949440" y="35295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Scores your accounts</a:t>
            </a:r>
          </a:p>
        </p:txBody>
      </p:sp>
      <p:sp>
        <p:nvSpPr>
          <p:cNvPr id="24" name="TextBox 23"/>
          <p:cNvSpPr txBox="1"/>
          <p:nvPr/>
        </p:nvSpPr>
        <p:spPr>
          <a:xfrm>
            <a:off x="6949440" y="39136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Runs Fit x Signal on your list and builds the ranked hopper.</a:t>
            </a:r>
          </a:p>
        </p:txBody>
      </p:sp>
      <p:sp>
        <p:nvSpPr>
          <p:cNvPr id="25" name="Rounded Rectangle 24"/>
          <p:cNvSpPr/>
          <p:nvPr/>
        </p:nvSpPr>
        <p:spPr>
          <a:xfrm>
            <a:off x="640080" y="47548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7" y="51800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51709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28" name="TextBox 27"/>
          <p:cNvSpPr txBox="1"/>
          <p:nvPr/>
        </p:nvSpPr>
        <p:spPr>
          <a:xfrm>
            <a:off x="1280160" y="49011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Registers your schedule</a:t>
            </a:r>
          </a:p>
        </p:txBody>
      </p:sp>
      <p:sp>
        <p:nvSpPr>
          <p:cNvPr id="29" name="TextBox 28"/>
          <p:cNvSpPr txBox="1"/>
          <p:nvPr/>
        </p:nvSpPr>
        <p:spPr>
          <a:xfrm>
            <a:off x="1280160" y="52852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Sets up the 7am morning driver and the Friday digest.</a:t>
            </a:r>
          </a:p>
        </p:txBody>
      </p:sp>
      <p:sp>
        <p:nvSpPr>
          <p:cNvPr id="30" name="Rounded Rectangle 29"/>
          <p:cNvSpPr/>
          <p:nvPr/>
        </p:nvSpPr>
        <p:spPr>
          <a:xfrm>
            <a:off x="6309359" y="4754880"/>
            <a:ext cx="5349240" cy="1143000"/>
          </a:xfrm>
          <a:prstGeom prst="roundRect">
            <a:avLst/>
          </a:prstGeom>
          <a:solidFill>
            <a:srgbClr val="F4F6F8"/>
          </a:solidFill>
          <a:ln w="12700">
            <a:solidFill>
              <a:srgbClr val="D9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10527" y="5180076"/>
            <a:ext cx="292608" cy="292608"/>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0527" y="5170932"/>
            <a:ext cx="292608" cy="310896"/>
          </a:xfrm>
          <a:prstGeom prst="rect">
            <a:avLst/>
          </a:prstGeom>
          <a:noFill/>
        </p:spPr>
        <p:txBody>
          <a:bodyPr wrap="square" anchor="ctr" lIns="0" rIns="0" tIns="0" bIns="0">
            <a:spAutoFit/>
          </a:bodyPr>
          <a:lstStyle/>
          <a:p>
            <a:pPr algn="ctr">
              <a:lnSpc>
                <a:spcPct val="100000"/>
              </a:lnSpc>
              <a:spcBef>
                <a:spcPts val="0"/>
              </a:spcBef>
              <a:spcAft>
                <a:spcPts val="400"/>
              </a:spcAft>
            </a:pPr>
            <a:r>
              <a:rPr sz="1500" b="1" i="0">
                <a:solidFill>
                  <a:srgbClr val="FFFFFF"/>
                </a:solidFill>
                <a:latin typeface="Trebuchet MS"/>
              </a:rPr>
              <a:t>v</a:t>
            </a:r>
          </a:p>
        </p:txBody>
      </p:sp>
      <p:sp>
        <p:nvSpPr>
          <p:cNvPr id="33" name="TextBox 32"/>
          <p:cNvSpPr txBox="1"/>
          <p:nvPr/>
        </p:nvSpPr>
        <p:spPr>
          <a:xfrm>
            <a:off x="6949440" y="4901184"/>
            <a:ext cx="4572000" cy="365760"/>
          </a:xfrm>
          <a:prstGeom prst="rect">
            <a:avLst/>
          </a:prstGeom>
          <a:noFill/>
        </p:spPr>
        <p:txBody>
          <a:bodyPr wrap="square" anchor="t" lIns="0" rIns="0" tIns="0" bIns="0">
            <a:spAutoFit/>
          </a:bodyPr>
          <a:lstStyle/>
          <a:p>
            <a:pPr algn="l">
              <a:lnSpc>
                <a:spcPct val="100000"/>
              </a:lnSpc>
              <a:spcBef>
                <a:spcPts val="0"/>
              </a:spcBef>
              <a:spcAft>
                <a:spcPts val="400"/>
              </a:spcAft>
            </a:pPr>
            <a:r>
              <a:rPr sz="1450" b="1" i="0">
                <a:solidFill>
                  <a:srgbClr val="0A2540"/>
                </a:solidFill>
                <a:latin typeface="Trebuchet MS"/>
              </a:rPr>
              <a:t>Reports back</a:t>
            </a:r>
          </a:p>
        </p:txBody>
      </p:sp>
      <p:sp>
        <p:nvSpPr>
          <p:cNvPr id="34" name="TextBox 33"/>
          <p:cNvSpPr txBox="1"/>
          <p:nvPr/>
        </p:nvSpPr>
        <p:spPr>
          <a:xfrm>
            <a:off x="6949440" y="5285232"/>
            <a:ext cx="4572000" cy="54864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B"/>
                </a:solidFill>
                <a:latin typeface="Calibri"/>
              </a:rPr>
              <a:t>Tells you exactly what is live and what is left for you.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YOUR PART</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The only three things you do</a:t>
            </a:r>
          </a:p>
        </p:txBody>
      </p:sp>
      <p:sp>
        <p:nvSpPr>
          <p:cNvPr id="5" name="Rounded Rectangle 4"/>
          <p:cNvSpPr/>
          <p:nvPr/>
        </p:nvSpPr>
        <p:spPr>
          <a:xfrm>
            <a:off x="640080" y="2103120"/>
            <a:ext cx="3529584" cy="310896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377439"/>
            <a:ext cx="548640" cy="548640"/>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39"/>
            <a:ext cx="5486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1</a:t>
            </a:r>
          </a:p>
        </p:txBody>
      </p:sp>
      <p:sp>
        <p:nvSpPr>
          <p:cNvPr id="8" name="TextBox 7"/>
          <p:cNvSpPr txBox="1"/>
          <p:nvPr/>
        </p:nvSpPr>
        <p:spPr>
          <a:xfrm>
            <a:off x="914400" y="3063239"/>
            <a:ext cx="2980944" cy="64008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0A2540"/>
                </a:solidFill>
                <a:latin typeface="Trebuchet MS"/>
              </a:rPr>
              <a:t>Paste your accounts</a:t>
            </a:r>
          </a:p>
        </p:txBody>
      </p:sp>
      <p:sp>
        <p:nvSpPr>
          <p:cNvPr id="9" name="TextBox 8"/>
          <p:cNvSpPr txBox="1"/>
          <p:nvPr/>
        </p:nvSpPr>
        <p:spPr>
          <a:xfrm>
            <a:off x="914400" y="3703320"/>
            <a:ext cx="2980944" cy="1188719"/>
          </a:xfrm>
          <a:prstGeom prst="rect">
            <a:avLst/>
          </a:prstGeom>
          <a:noFill/>
        </p:spPr>
        <p:txBody>
          <a:bodyPr wrap="square" anchor="t" lIns="0" rIns="0" tIns="0" bIns="0">
            <a:spAutoFit/>
          </a:bodyPr>
          <a:lstStyle/>
          <a:p>
            <a:pPr algn="l">
              <a:lnSpc>
                <a:spcPct val="116000"/>
              </a:lnSpc>
              <a:spcBef>
                <a:spcPts val="0"/>
              </a:spcBef>
              <a:spcAft>
                <a:spcPts val="400"/>
              </a:spcAft>
            </a:pPr>
            <a:r>
              <a:rPr sz="1300" b="0" i="0">
                <a:solidFill>
                  <a:srgbClr val="1A2B3C"/>
                </a:solidFill>
                <a:latin typeface="Calibri"/>
              </a:rPr>
              <a:t>When asked, drop in your assigned account list. Claude scores and ranks them.</a:t>
            </a:r>
          </a:p>
        </p:txBody>
      </p:sp>
      <p:sp>
        <p:nvSpPr>
          <p:cNvPr id="10" name="TextBox 9"/>
          <p:cNvSpPr txBox="1"/>
          <p:nvPr/>
        </p:nvSpPr>
        <p:spPr>
          <a:xfrm>
            <a:off x="914400" y="4754879"/>
            <a:ext cx="2980944"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Calibri"/>
              </a:rPr>
              <a:t>30 seconds</a:t>
            </a:r>
          </a:p>
        </p:txBody>
      </p:sp>
      <p:sp>
        <p:nvSpPr>
          <p:cNvPr id="11" name="Rounded Rectangle 10"/>
          <p:cNvSpPr/>
          <p:nvPr/>
        </p:nvSpPr>
        <p:spPr>
          <a:xfrm>
            <a:off x="4489704" y="2103120"/>
            <a:ext cx="3529584" cy="310896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64024" y="2377439"/>
            <a:ext cx="548640" cy="548640"/>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64024" y="2377439"/>
            <a:ext cx="5486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2</a:t>
            </a:r>
          </a:p>
        </p:txBody>
      </p:sp>
      <p:sp>
        <p:nvSpPr>
          <p:cNvPr id="14" name="TextBox 13"/>
          <p:cNvSpPr txBox="1"/>
          <p:nvPr/>
        </p:nvSpPr>
        <p:spPr>
          <a:xfrm>
            <a:off x="4764024" y="3063239"/>
            <a:ext cx="2980944" cy="64008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0A2540"/>
                </a:solidFill>
                <a:latin typeface="Trebuchet MS"/>
              </a:rPr>
              <a:t>Create the Apollo fields</a:t>
            </a:r>
          </a:p>
        </p:txBody>
      </p:sp>
      <p:sp>
        <p:nvSpPr>
          <p:cNvPr id="15" name="TextBox 14"/>
          <p:cNvSpPr txBox="1"/>
          <p:nvPr/>
        </p:nvSpPr>
        <p:spPr>
          <a:xfrm>
            <a:off x="4764024" y="3703320"/>
            <a:ext cx="2980944" cy="1188719"/>
          </a:xfrm>
          <a:prstGeom prst="rect">
            <a:avLst/>
          </a:prstGeom>
          <a:noFill/>
        </p:spPr>
        <p:txBody>
          <a:bodyPr wrap="square" anchor="t" lIns="0" rIns="0" tIns="0" bIns="0">
            <a:spAutoFit/>
          </a:bodyPr>
          <a:lstStyle/>
          <a:p>
            <a:pPr algn="l">
              <a:lnSpc>
                <a:spcPct val="116000"/>
              </a:lnSpc>
              <a:spcBef>
                <a:spcPts val="0"/>
              </a:spcBef>
              <a:spcAft>
                <a:spcPts val="400"/>
              </a:spcAft>
            </a:pPr>
            <a:r>
              <a:rPr sz="1300" b="0" i="0">
                <a:solidFill>
                  <a:srgbClr val="1A2B3C"/>
                </a:solidFill>
                <a:latin typeface="Calibri"/>
              </a:rPr>
              <a:t>One-time, in the Apollo UI: add 4 custom fields and set the day-1 email to use them via the { } picker. Claude points you to the exact clicks.</a:t>
            </a:r>
          </a:p>
        </p:txBody>
      </p:sp>
      <p:sp>
        <p:nvSpPr>
          <p:cNvPr id="16" name="TextBox 15"/>
          <p:cNvSpPr txBox="1"/>
          <p:nvPr/>
        </p:nvSpPr>
        <p:spPr>
          <a:xfrm>
            <a:off x="4764024" y="4754879"/>
            <a:ext cx="2980944"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Calibri"/>
              </a:rPr>
              <a:t>one-time, ~5 min</a:t>
            </a:r>
          </a:p>
        </p:txBody>
      </p:sp>
      <p:sp>
        <p:nvSpPr>
          <p:cNvPr id="17" name="Rounded Rectangle 16"/>
          <p:cNvSpPr/>
          <p:nvPr/>
        </p:nvSpPr>
        <p:spPr>
          <a:xfrm>
            <a:off x="8339327" y="2103120"/>
            <a:ext cx="3529584" cy="310896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613648" y="2377439"/>
            <a:ext cx="548640" cy="548640"/>
          </a:xfrm>
          <a:prstGeom prst="ellipse">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3648" y="2377439"/>
            <a:ext cx="548640" cy="54864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3</a:t>
            </a:r>
          </a:p>
        </p:txBody>
      </p:sp>
      <p:sp>
        <p:nvSpPr>
          <p:cNvPr id="20" name="TextBox 19"/>
          <p:cNvSpPr txBox="1"/>
          <p:nvPr/>
        </p:nvSpPr>
        <p:spPr>
          <a:xfrm>
            <a:off x="8613648" y="3063239"/>
            <a:ext cx="2980944" cy="640080"/>
          </a:xfrm>
          <a:prstGeom prst="rect">
            <a:avLst/>
          </a:prstGeom>
          <a:noFill/>
        </p:spPr>
        <p:txBody>
          <a:bodyPr wrap="square" anchor="t" lIns="0" rIns="0" tIns="0" bIns="0">
            <a:spAutoFit/>
          </a:bodyPr>
          <a:lstStyle/>
          <a:p>
            <a:pPr algn="l">
              <a:lnSpc>
                <a:spcPct val="100000"/>
              </a:lnSpc>
              <a:spcBef>
                <a:spcPts val="0"/>
              </a:spcBef>
              <a:spcAft>
                <a:spcPts val="400"/>
              </a:spcAft>
            </a:pPr>
            <a:r>
              <a:rPr sz="1700" b="1" i="0">
                <a:solidFill>
                  <a:srgbClr val="0A2540"/>
                </a:solidFill>
                <a:latin typeface="Trebuchet MS"/>
              </a:rPr>
              <a:t>Click Run now once</a:t>
            </a:r>
          </a:p>
        </p:txBody>
      </p:sp>
      <p:sp>
        <p:nvSpPr>
          <p:cNvPr id="21" name="TextBox 20"/>
          <p:cNvSpPr txBox="1"/>
          <p:nvPr/>
        </p:nvSpPr>
        <p:spPr>
          <a:xfrm>
            <a:off x="8613648" y="3703320"/>
            <a:ext cx="2980944" cy="1188719"/>
          </a:xfrm>
          <a:prstGeom prst="rect">
            <a:avLst/>
          </a:prstGeom>
          <a:noFill/>
        </p:spPr>
        <p:txBody>
          <a:bodyPr wrap="square" anchor="t" lIns="0" rIns="0" tIns="0" bIns="0">
            <a:spAutoFit/>
          </a:bodyPr>
          <a:lstStyle/>
          <a:p>
            <a:pPr algn="l">
              <a:lnSpc>
                <a:spcPct val="116000"/>
              </a:lnSpc>
              <a:spcBef>
                <a:spcPts val="0"/>
              </a:spcBef>
              <a:spcAft>
                <a:spcPts val="400"/>
              </a:spcAft>
            </a:pPr>
            <a:r>
              <a:rPr sz="1300" b="0" i="0">
                <a:solidFill>
                  <a:srgbClr val="1A2B3C"/>
                </a:solidFill>
                <a:latin typeface="Calibri"/>
              </a:rPr>
              <a:t>In the Scheduled panel, run the driver once and approve the tool prompts. Banks approvals for every future 7am run.</a:t>
            </a:r>
          </a:p>
        </p:txBody>
      </p:sp>
      <p:sp>
        <p:nvSpPr>
          <p:cNvPr id="22" name="TextBox 21"/>
          <p:cNvSpPr txBox="1"/>
          <p:nvPr/>
        </p:nvSpPr>
        <p:spPr>
          <a:xfrm>
            <a:off x="8613648" y="4754879"/>
            <a:ext cx="2980944" cy="32004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Calibri"/>
              </a:rPr>
              <a:t>one-time, ~1 min</a:t>
            </a:r>
          </a:p>
        </p:txBody>
      </p:sp>
      <p:sp>
        <p:nvSpPr>
          <p:cNvPr id="23" name="TextBox 22"/>
          <p:cNvSpPr txBox="1"/>
          <p:nvPr/>
        </p:nvSpPr>
        <p:spPr>
          <a:xfrm>
            <a:off x="640080" y="5486400"/>
            <a:ext cx="1097280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0" i="1">
                <a:solidFill>
                  <a:srgbClr val="5B6B7B"/>
                </a:solidFill>
                <a:latin typeface="Calibri"/>
              </a:rPr>
              <a:t>Everything else is automatic. The Apollo fields can't be created by API, so that one is on you,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AFTER SETUP</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Your day once it's live</a:t>
            </a:r>
          </a:p>
        </p:txBody>
      </p:sp>
      <p:sp>
        <p:nvSpPr>
          <p:cNvPr id="5" name="Rounded Rectangle 4"/>
          <p:cNvSpPr/>
          <p:nvPr/>
        </p:nvSpPr>
        <p:spPr>
          <a:xfrm>
            <a:off x="640080" y="2057400"/>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057400"/>
            <a:ext cx="109728" cy="1737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A2540"/>
                </a:solidFill>
                <a:latin typeface="Trebuchet MS"/>
              </a:rPr>
              <a:t>Morning</a:t>
            </a:r>
          </a:p>
        </p:txBody>
      </p:sp>
      <p:sp>
        <p:nvSpPr>
          <p:cNvPr id="8" name="TextBox 7"/>
          <p:cNvSpPr txBox="1"/>
          <p:nvPr/>
        </p:nvSpPr>
        <p:spPr>
          <a:xfrm>
            <a:off x="914400" y="2715768"/>
            <a:ext cx="4983480" cy="960119"/>
          </a:xfrm>
          <a:prstGeom prst="rect">
            <a:avLst/>
          </a:prstGeom>
          <a:noFill/>
        </p:spPr>
        <p:txBody>
          <a:bodyPr wrap="square" anchor="t" lIns="0" rIns="0" tIns="0" bIns="0">
            <a:spAutoFit/>
          </a:bodyPr>
          <a:lstStyle/>
          <a:p>
            <a:pPr algn="l">
              <a:lnSpc>
                <a:spcPct val="115000"/>
              </a:lnSpc>
              <a:spcBef>
                <a:spcPts val="0"/>
              </a:spcBef>
              <a:spcAft>
                <a:spcPts val="400"/>
              </a:spcAft>
            </a:pPr>
            <a:r>
              <a:rPr sz="1350" b="0" i="0">
                <a:solidFill>
                  <a:srgbClr val="5B6B7B"/>
                </a:solidFill>
                <a:latin typeface="Calibri"/>
              </a:rPr>
              <a:t>Claude Slacks you: 20 contacts staged across N accounts, with a one-tap enroll per account.</a:t>
            </a:r>
          </a:p>
        </p:txBody>
      </p:sp>
      <p:sp>
        <p:nvSpPr>
          <p:cNvPr id="9" name="Rounded Rectangle 8"/>
          <p:cNvSpPr/>
          <p:nvPr/>
        </p:nvSpPr>
        <p:spPr>
          <a:xfrm>
            <a:off x="6428232" y="2057400"/>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28232" y="2057400"/>
            <a:ext cx="109728" cy="1737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2552" y="2258568"/>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A2540"/>
                </a:solidFill>
                <a:latin typeface="Trebuchet MS"/>
              </a:rPr>
              <a:t>You review</a:t>
            </a:r>
          </a:p>
        </p:txBody>
      </p:sp>
      <p:sp>
        <p:nvSpPr>
          <p:cNvPr id="12" name="TextBox 11"/>
          <p:cNvSpPr txBox="1"/>
          <p:nvPr/>
        </p:nvSpPr>
        <p:spPr>
          <a:xfrm>
            <a:off x="6702552" y="2715768"/>
            <a:ext cx="4983480" cy="960119"/>
          </a:xfrm>
          <a:prstGeom prst="rect">
            <a:avLst/>
          </a:prstGeom>
          <a:noFill/>
        </p:spPr>
        <p:txBody>
          <a:bodyPr wrap="square" anchor="t" lIns="0" rIns="0" tIns="0" bIns="0">
            <a:spAutoFit/>
          </a:bodyPr>
          <a:lstStyle/>
          <a:p>
            <a:pPr algn="l">
              <a:lnSpc>
                <a:spcPct val="115000"/>
              </a:lnSpc>
              <a:spcBef>
                <a:spcPts val="0"/>
              </a:spcBef>
              <a:spcAft>
                <a:spcPts val="400"/>
              </a:spcAft>
            </a:pPr>
            <a:r>
              <a:rPr sz="1350" b="0" i="0">
                <a:solidFill>
                  <a:srgbClr val="5B6B7B"/>
                </a:solidFill>
                <a:latin typeface="Calibri"/>
              </a:rPr>
              <a:t>Confirm enroll, import that account's apollo-import.csv, then activate the sequence.</a:t>
            </a:r>
          </a:p>
        </p:txBody>
      </p:sp>
      <p:sp>
        <p:nvSpPr>
          <p:cNvPr id="13" name="Rounded Rectangle 12"/>
          <p:cNvSpPr/>
          <p:nvPr/>
        </p:nvSpPr>
        <p:spPr>
          <a:xfrm>
            <a:off x="640080" y="4069079"/>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069079"/>
            <a:ext cx="109728" cy="1737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70247"/>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A2540"/>
                </a:solidFill>
                <a:latin typeface="Trebuchet MS"/>
              </a:rPr>
              <a:t>The gate</a:t>
            </a:r>
          </a:p>
        </p:txBody>
      </p:sp>
      <p:sp>
        <p:nvSpPr>
          <p:cNvPr id="16" name="TextBox 15"/>
          <p:cNvSpPr txBox="1"/>
          <p:nvPr/>
        </p:nvSpPr>
        <p:spPr>
          <a:xfrm>
            <a:off x="914400" y="4727447"/>
            <a:ext cx="4983480" cy="960119"/>
          </a:xfrm>
          <a:prstGeom prst="rect">
            <a:avLst/>
          </a:prstGeom>
          <a:noFill/>
        </p:spPr>
        <p:txBody>
          <a:bodyPr wrap="square" anchor="t" lIns="0" rIns="0" tIns="0" bIns="0">
            <a:spAutoFit/>
          </a:bodyPr>
          <a:lstStyle/>
          <a:p>
            <a:pPr algn="l">
              <a:lnSpc>
                <a:spcPct val="115000"/>
              </a:lnSpc>
              <a:spcBef>
                <a:spcPts val="0"/>
              </a:spcBef>
              <a:spcAft>
                <a:spcPts val="400"/>
              </a:spcAft>
            </a:pPr>
            <a:r>
              <a:rPr sz="1350" b="0" i="0">
                <a:solidFill>
                  <a:srgbClr val="5B6B7B"/>
                </a:solidFill>
                <a:latin typeface="Calibri"/>
              </a:rPr>
              <a:t>STRIKE accounts wait for your eyes. NURTURE and QUALIFY are pre-trusted.</a:t>
            </a:r>
          </a:p>
        </p:txBody>
      </p:sp>
      <p:sp>
        <p:nvSpPr>
          <p:cNvPr id="17" name="Rounded Rectangle 16"/>
          <p:cNvSpPr/>
          <p:nvPr/>
        </p:nvSpPr>
        <p:spPr>
          <a:xfrm>
            <a:off x="6428232" y="4069079"/>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28232" y="4069079"/>
            <a:ext cx="109728" cy="1737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4270247"/>
            <a:ext cx="5029200" cy="365760"/>
          </a:xfrm>
          <a:prstGeom prst="rect">
            <a:avLst/>
          </a:prstGeom>
          <a:noFill/>
        </p:spPr>
        <p:txBody>
          <a:bodyPr wrap="square" anchor="t" lIns="0" rIns="0" tIns="0" bIns="0">
            <a:spAutoFit/>
          </a:bodyPr>
          <a:lstStyle/>
          <a:p>
            <a:pPr algn="l">
              <a:lnSpc>
                <a:spcPct val="100000"/>
              </a:lnSpc>
              <a:spcBef>
                <a:spcPts val="0"/>
              </a:spcBef>
              <a:spcAft>
                <a:spcPts val="400"/>
              </a:spcAft>
            </a:pPr>
            <a:r>
              <a:rPr sz="1600" b="1" i="0">
                <a:solidFill>
                  <a:srgbClr val="0A2540"/>
                </a:solidFill>
                <a:latin typeface="Trebuchet MS"/>
              </a:rPr>
              <a:t>Friday</a:t>
            </a:r>
          </a:p>
        </p:txBody>
      </p:sp>
      <p:sp>
        <p:nvSpPr>
          <p:cNvPr id="20" name="TextBox 19"/>
          <p:cNvSpPr txBox="1"/>
          <p:nvPr/>
        </p:nvSpPr>
        <p:spPr>
          <a:xfrm>
            <a:off x="6702552" y="4727447"/>
            <a:ext cx="4983480" cy="960119"/>
          </a:xfrm>
          <a:prstGeom prst="rect">
            <a:avLst/>
          </a:prstGeom>
          <a:noFill/>
        </p:spPr>
        <p:txBody>
          <a:bodyPr wrap="square" anchor="t" lIns="0" rIns="0" tIns="0" bIns="0">
            <a:spAutoFit/>
          </a:bodyPr>
          <a:lstStyle/>
          <a:p>
            <a:pPr algn="l">
              <a:lnSpc>
                <a:spcPct val="115000"/>
              </a:lnSpc>
              <a:spcBef>
                <a:spcPts val="0"/>
              </a:spcBef>
              <a:spcAft>
                <a:spcPts val="400"/>
              </a:spcAft>
            </a:pPr>
            <a:r>
              <a:rPr sz="1350" b="0" i="0">
                <a:solidFill>
                  <a:srgbClr val="5B6B7B"/>
                </a:solidFill>
                <a:latin typeface="Calibri"/>
              </a:rPr>
              <a:t>The weekly digest lands automatically: runs, enrollments, replies, hopper depth.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THE GATE</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How each account is handled</a:t>
            </a:r>
          </a:p>
        </p:txBody>
      </p:sp>
      <p:sp>
        <p:nvSpPr>
          <p:cNvPr id="5" name="Rounded Rectangle 4"/>
          <p:cNvSpPr/>
          <p:nvPr/>
        </p:nvSpPr>
        <p:spPr>
          <a:xfrm>
            <a:off x="640080" y="2194560"/>
            <a:ext cx="3529584" cy="274320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194560"/>
            <a:ext cx="3529584" cy="640080"/>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94560"/>
            <a:ext cx="3072384" cy="640080"/>
          </a:xfrm>
          <a:prstGeom prst="rect">
            <a:avLst/>
          </a:prstGeom>
          <a:noFill/>
        </p:spPr>
        <p:txBody>
          <a:bodyPr wrap="square" anchor="ctr" lIns="0" rIns="0" tIns="0" bIns="0">
            <a:spAutoFit/>
          </a:bodyPr>
          <a:lstStyle/>
          <a:p>
            <a:pPr algn="l">
              <a:lnSpc>
                <a:spcPct val="100000"/>
              </a:lnSpc>
              <a:spcBef>
                <a:spcPts val="0"/>
              </a:spcBef>
              <a:spcAft>
                <a:spcPts val="400"/>
              </a:spcAft>
            </a:pPr>
            <a:r>
              <a:rPr sz="1800" b="1" i="0">
                <a:solidFill>
                  <a:srgbClr val="FFFFFF"/>
                </a:solidFill>
                <a:latin typeface="Trebuchet MS"/>
              </a:rPr>
              <a:t>STRIKE</a:t>
            </a:r>
          </a:p>
        </p:txBody>
      </p:sp>
      <p:sp>
        <p:nvSpPr>
          <p:cNvPr id="8" name="TextBox 7"/>
          <p:cNvSpPr txBox="1"/>
          <p:nvPr/>
        </p:nvSpPr>
        <p:spPr>
          <a:xfrm>
            <a:off x="868680" y="2971800"/>
            <a:ext cx="3072384" cy="54864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1E7E34"/>
                </a:solidFill>
                <a:latin typeface="Calibri"/>
              </a:rPr>
              <a:t>Fit 70+ and Signal 70+</a:t>
            </a:r>
          </a:p>
        </p:txBody>
      </p:sp>
      <p:sp>
        <p:nvSpPr>
          <p:cNvPr id="9" name="TextBox 8"/>
          <p:cNvSpPr txBox="1"/>
          <p:nvPr/>
        </p:nvSpPr>
        <p:spPr>
          <a:xfrm>
            <a:off x="868680" y="3566160"/>
            <a:ext cx="3072384" cy="1280160"/>
          </a:xfrm>
          <a:prstGeom prst="rect">
            <a:avLst/>
          </a:prstGeom>
          <a:noFill/>
        </p:spPr>
        <p:txBody>
          <a:bodyPr wrap="square" anchor="t" lIns="0" rIns="0" tIns="0" bIns="0">
            <a:spAutoFit/>
          </a:bodyPr>
          <a:lstStyle/>
          <a:p>
            <a:pPr algn="l">
              <a:lnSpc>
                <a:spcPct val="118000"/>
              </a:lnSpc>
              <a:spcBef>
                <a:spcPts val="0"/>
              </a:spcBef>
              <a:spcAft>
                <a:spcPts val="400"/>
              </a:spcAft>
            </a:pPr>
            <a:r>
              <a:rPr sz="1350" b="0" i="0">
                <a:solidFill>
                  <a:srgbClr val="1A2B3C"/>
                </a:solidFill>
                <a:latin typeface="Calibri"/>
              </a:rPr>
              <a:t>Prep + stage. You review the content and approve before anything sends. Your top logos.</a:t>
            </a:r>
          </a:p>
        </p:txBody>
      </p:sp>
      <p:sp>
        <p:nvSpPr>
          <p:cNvPr id="10" name="Rounded Rectangle 9"/>
          <p:cNvSpPr/>
          <p:nvPr/>
        </p:nvSpPr>
        <p:spPr>
          <a:xfrm>
            <a:off x="4489704" y="2194560"/>
            <a:ext cx="3529584" cy="274320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9704" y="2194560"/>
            <a:ext cx="3529584" cy="640080"/>
          </a:xfrm>
          <a:prstGeom prst="rect">
            <a:avLst/>
          </a:prstGeom>
          <a:solidFill>
            <a:srgbClr val="C68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194560"/>
            <a:ext cx="3072384" cy="640080"/>
          </a:xfrm>
          <a:prstGeom prst="rect">
            <a:avLst/>
          </a:prstGeom>
          <a:noFill/>
        </p:spPr>
        <p:txBody>
          <a:bodyPr wrap="square" anchor="ctr" lIns="0" rIns="0" tIns="0" bIns="0">
            <a:spAutoFit/>
          </a:bodyPr>
          <a:lstStyle/>
          <a:p>
            <a:pPr algn="l">
              <a:lnSpc>
                <a:spcPct val="100000"/>
              </a:lnSpc>
              <a:spcBef>
                <a:spcPts val="0"/>
              </a:spcBef>
              <a:spcAft>
                <a:spcPts val="400"/>
              </a:spcAft>
            </a:pPr>
            <a:r>
              <a:rPr sz="1800" b="1" i="0">
                <a:solidFill>
                  <a:srgbClr val="FFFFFF"/>
                </a:solidFill>
                <a:latin typeface="Trebuchet MS"/>
              </a:rPr>
              <a:t>NURTURE / QUALIFY</a:t>
            </a:r>
          </a:p>
        </p:txBody>
      </p:sp>
      <p:sp>
        <p:nvSpPr>
          <p:cNvPr id="13" name="TextBox 12"/>
          <p:cNvSpPr txBox="1"/>
          <p:nvPr/>
        </p:nvSpPr>
        <p:spPr>
          <a:xfrm>
            <a:off x="4718304" y="2971800"/>
            <a:ext cx="3072384" cy="54864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C6890A"/>
                </a:solidFill>
                <a:latin typeface="Calibri"/>
              </a:rPr>
              <a:t>Fit 70+ low signal, or Fit 40-69</a:t>
            </a:r>
          </a:p>
        </p:txBody>
      </p:sp>
      <p:sp>
        <p:nvSpPr>
          <p:cNvPr id="14" name="TextBox 13"/>
          <p:cNvSpPr txBox="1"/>
          <p:nvPr/>
        </p:nvSpPr>
        <p:spPr>
          <a:xfrm>
            <a:off x="4718304" y="3566160"/>
            <a:ext cx="3072384" cy="1280160"/>
          </a:xfrm>
          <a:prstGeom prst="rect">
            <a:avLst/>
          </a:prstGeom>
          <a:noFill/>
        </p:spPr>
        <p:txBody>
          <a:bodyPr wrap="square" anchor="t" lIns="0" rIns="0" tIns="0" bIns="0">
            <a:spAutoFit/>
          </a:bodyPr>
          <a:lstStyle/>
          <a:p>
            <a:pPr algn="l">
              <a:lnSpc>
                <a:spcPct val="118000"/>
              </a:lnSpc>
              <a:spcBef>
                <a:spcPts val="0"/>
              </a:spcBef>
              <a:spcAft>
                <a:spcPts val="400"/>
              </a:spcAft>
            </a:pPr>
            <a:r>
              <a:rPr sz="1350" b="0" i="0">
                <a:solidFill>
                  <a:srgbClr val="1A2B3C"/>
                </a:solidFill>
                <a:latin typeface="Calibri"/>
              </a:rPr>
              <a:t>Content pre-trusted. One tap to enroll. Keeps volume moving.</a:t>
            </a:r>
          </a:p>
        </p:txBody>
      </p:sp>
      <p:sp>
        <p:nvSpPr>
          <p:cNvPr id="15" name="Rounded Rectangle 14"/>
          <p:cNvSpPr/>
          <p:nvPr/>
        </p:nvSpPr>
        <p:spPr>
          <a:xfrm>
            <a:off x="8339327" y="2194560"/>
            <a:ext cx="3529584" cy="2743200"/>
          </a:xfrm>
          <a:prstGeom prst="roundRect">
            <a:avLst/>
          </a:prstGeom>
          <a:solidFill>
            <a:srgbClr val="FFFFFF"/>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7" y="2194560"/>
            <a:ext cx="3529584" cy="640080"/>
          </a:xfrm>
          <a:prstGeom prst="rect">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7928" y="2194560"/>
            <a:ext cx="3072384" cy="640080"/>
          </a:xfrm>
          <a:prstGeom prst="rect">
            <a:avLst/>
          </a:prstGeom>
          <a:noFill/>
        </p:spPr>
        <p:txBody>
          <a:bodyPr wrap="square" anchor="ctr" lIns="0" rIns="0" tIns="0" bIns="0">
            <a:spAutoFit/>
          </a:bodyPr>
          <a:lstStyle/>
          <a:p>
            <a:pPr algn="l">
              <a:lnSpc>
                <a:spcPct val="100000"/>
              </a:lnSpc>
              <a:spcBef>
                <a:spcPts val="0"/>
              </a:spcBef>
              <a:spcAft>
                <a:spcPts val="400"/>
              </a:spcAft>
            </a:pPr>
            <a:r>
              <a:rPr sz="1800" b="1" i="0">
                <a:solidFill>
                  <a:srgbClr val="FFFFFF"/>
                </a:solidFill>
                <a:latin typeface="Trebuchet MS"/>
              </a:rPr>
              <a:t>KILL</a:t>
            </a:r>
          </a:p>
        </p:txBody>
      </p:sp>
      <p:sp>
        <p:nvSpPr>
          <p:cNvPr id="18" name="TextBox 17"/>
          <p:cNvSpPr txBox="1"/>
          <p:nvPr/>
        </p:nvSpPr>
        <p:spPr>
          <a:xfrm>
            <a:off x="8567928" y="2971800"/>
            <a:ext cx="3072384" cy="548640"/>
          </a:xfrm>
          <a:prstGeom prst="rect">
            <a:avLst/>
          </a:prstGeom>
          <a:noFill/>
        </p:spPr>
        <p:txBody>
          <a:bodyPr wrap="square" anchor="t" lIns="0" rIns="0" tIns="0" bIns="0">
            <a:spAutoFit/>
          </a:bodyPr>
          <a:lstStyle/>
          <a:p>
            <a:pPr algn="l">
              <a:lnSpc>
                <a:spcPct val="105000"/>
              </a:lnSpc>
              <a:spcBef>
                <a:spcPts val="0"/>
              </a:spcBef>
              <a:spcAft>
                <a:spcPts val="400"/>
              </a:spcAft>
            </a:pPr>
            <a:r>
              <a:rPr sz="1250" b="1" i="0">
                <a:solidFill>
                  <a:srgbClr val="5B6B7B"/>
                </a:solidFill>
                <a:latin typeface="Calibri"/>
              </a:rPr>
              <a:t>Either axis under 40</a:t>
            </a:r>
          </a:p>
        </p:txBody>
      </p:sp>
      <p:sp>
        <p:nvSpPr>
          <p:cNvPr id="19" name="TextBox 18"/>
          <p:cNvSpPr txBox="1"/>
          <p:nvPr/>
        </p:nvSpPr>
        <p:spPr>
          <a:xfrm>
            <a:off x="8567928" y="3566160"/>
            <a:ext cx="3072384" cy="1280160"/>
          </a:xfrm>
          <a:prstGeom prst="rect">
            <a:avLst/>
          </a:prstGeom>
          <a:noFill/>
        </p:spPr>
        <p:txBody>
          <a:bodyPr wrap="square" anchor="t" lIns="0" rIns="0" tIns="0" bIns="0">
            <a:spAutoFit/>
          </a:bodyPr>
          <a:lstStyle/>
          <a:p>
            <a:pPr algn="l">
              <a:lnSpc>
                <a:spcPct val="118000"/>
              </a:lnSpc>
              <a:spcBef>
                <a:spcPts val="0"/>
              </a:spcBef>
              <a:spcAft>
                <a:spcPts val="400"/>
              </a:spcAft>
            </a:pPr>
            <a:r>
              <a:rPr sz="1350" b="0" i="0">
                <a:solidFill>
                  <a:srgbClr val="1A2B3C"/>
                </a:solidFill>
                <a:latin typeface="Calibri"/>
              </a:rPr>
              <a:t>Never worked. Off the queue.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GOTCHAS</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Four things that will trip you up</a:t>
            </a:r>
          </a:p>
        </p:txBody>
      </p:sp>
      <p:sp>
        <p:nvSpPr>
          <p:cNvPr id="5" name="Rounded Rectangle 4"/>
          <p:cNvSpPr/>
          <p:nvPr/>
        </p:nvSpPr>
        <p:spPr>
          <a:xfrm>
            <a:off x="640080" y="2057400"/>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057400"/>
            <a:ext cx="502920" cy="17373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57400"/>
            <a:ext cx="502920" cy="173736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a:t>
            </a:r>
          </a:p>
        </p:txBody>
      </p:sp>
      <p:sp>
        <p:nvSpPr>
          <p:cNvPr id="8" name="TextBox 7"/>
          <p:cNvSpPr txBox="1"/>
          <p:nvPr/>
        </p:nvSpPr>
        <p:spPr>
          <a:xfrm>
            <a:off x="1325880" y="2286000"/>
            <a:ext cx="461772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A2540"/>
                </a:solidFill>
                <a:latin typeface="Trebuchet MS"/>
              </a:rPr>
              <a:t>Run it once</a:t>
            </a:r>
          </a:p>
        </p:txBody>
      </p:sp>
      <p:sp>
        <p:nvSpPr>
          <p:cNvPr id="9" name="TextBox 8"/>
          <p:cNvSpPr txBox="1"/>
          <p:nvPr/>
        </p:nvSpPr>
        <p:spPr>
          <a:xfrm>
            <a:off x="1325880" y="2715768"/>
            <a:ext cx="4617720" cy="9601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5B6B7B"/>
                </a:solidFill>
                <a:latin typeface="Calibri"/>
              </a:rPr>
              <a:t>Bank tool approvals or the automated runs silently do nothing.</a:t>
            </a:r>
          </a:p>
        </p:txBody>
      </p:sp>
      <p:sp>
        <p:nvSpPr>
          <p:cNvPr id="10" name="Rounded Rectangle 9"/>
          <p:cNvSpPr/>
          <p:nvPr/>
        </p:nvSpPr>
        <p:spPr>
          <a:xfrm>
            <a:off x="6428232" y="2057400"/>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28232" y="2057400"/>
            <a:ext cx="502920" cy="17373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2057400"/>
            <a:ext cx="502920" cy="173736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a:t>
            </a:r>
          </a:p>
        </p:txBody>
      </p:sp>
      <p:sp>
        <p:nvSpPr>
          <p:cNvPr id="13" name="TextBox 12"/>
          <p:cNvSpPr txBox="1"/>
          <p:nvPr/>
        </p:nvSpPr>
        <p:spPr>
          <a:xfrm>
            <a:off x="7114032" y="2286000"/>
            <a:ext cx="461772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A2540"/>
                </a:solidFill>
                <a:latin typeface="Trebuchet MS"/>
              </a:rPr>
              <a:t>Use the { } picker</a:t>
            </a:r>
          </a:p>
        </p:txBody>
      </p:sp>
      <p:sp>
        <p:nvSpPr>
          <p:cNvPr id="14" name="TextBox 13"/>
          <p:cNvSpPr txBox="1"/>
          <p:nvPr/>
        </p:nvSpPr>
        <p:spPr>
          <a:xfrm>
            <a:off x="7114032" y="2715768"/>
            <a:ext cx="4617720" cy="9601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5B6B7B"/>
                </a:solidFill>
                <a:latin typeface="Calibri"/>
              </a:rPr>
              <a:t>Never hand-type merge variables, or emails send literal {{tokens}}.</a:t>
            </a:r>
          </a:p>
        </p:txBody>
      </p:sp>
      <p:sp>
        <p:nvSpPr>
          <p:cNvPr id="15" name="Rounded Rectangle 14"/>
          <p:cNvSpPr/>
          <p:nvPr/>
        </p:nvSpPr>
        <p:spPr>
          <a:xfrm>
            <a:off x="640080" y="4069079"/>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069079"/>
            <a:ext cx="502920" cy="17373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069079"/>
            <a:ext cx="502920" cy="173736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a:t>
            </a:r>
          </a:p>
        </p:txBody>
      </p:sp>
      <p:sp>
        <p:nvSpPr>
          <p:cNvPr id="18" name="TextBox 17"/>
          <p:cNvSpPr txBox="1"/>
          <p:nvPr/>
        </p:nvSpPr>
        <p:spPr>
          <a:xfrm>
            <a:off x="1325880" y="4297679"/>
            <a:ext cx="461772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A2540"/>
                </a:solidFill>
                <a:latin typeface="Trebuchet MS"/>
              </a:rPr>
              <a:t>Import before you activate</a:t>
            </a:r>
          </a:p>
        </p:txBody>
      </p:sp>
      <p:sp>
        <p:nvSpPr>
          <p:cNvPr id="19" name="TextBox 18"/>
          <p:cNvSpPr txBox="1"/>
          <p:nvPr/>
        </p:nvSpPr>
        <p:spPr>
          <a:xfrm>
            <a:off x="1325880" y="4727447"/>
            <a:ext cx="4617720" cy="9601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5B6B7B"/>
                </a:solidFill>
                <a:latin typeface="Calibri"/>
              </a:rPr>
              <a:t>Don't activate a contact before its fields are filled, or it sends blank.</a:t>
            </a:r>
          </a:p>
        </p:txBody>
      </p:sp>
      <p:sp>
        <p:nvSpPr>
          <p:cNvPr id="20" name="Rounded Rectangle 19"/>
          <p:cNvSpPr/>
          <p:nvPr/>
        </p:nvSpPr>
        <p:spPr>
          <a:xfrm>
            <a:off x="6428232" y="4069079"/>
            <a:ext cx="5486400" cy="1737360"/>
          </a:xfrm>
          <a:prstGeom prst="roundRect">
            <a:avLst/>
          </a:prstGeom>
          <a:solidFill>
            <a:srgbClr val="F4F6F8"/>
          </a:solidFill>
          <a:ln w="12700">
            <a:solidFill>
              <a:srgbClr val="D9E0E6"/>
            </a:solidFill>
          </a:ln>
          <a:effectLst/>
          <a:effectLst>
            <a:outerShdw blurRad="70000" dist="30000" dir="5400000" rotWithShape="0">
              <a:srgbClr val="0A254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28232" y="4069079"/>
            <a:ext cx="502920" cy="173736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4069079"/>
            <a:ext cx="502920" cy="1737360"/>
          </a:xfrm>
          <a:prstGeom prst="rect">
            <a:avLst/>
          </a:prstGeom>
          <a:noFill/>
        </p:spPr>
        <p:txBody>
          <a:bodyPr wrap="square" anchor="ctr" lIns="0" rIns="0" tIns="0" bIns="0">
            <a:spAutoFit/>
          </a:bodyPr>
          <a:lstStyle/>
          <a:p>
            <a:pPr algn="ctr">
              <a:lnSpc>
                <a:spcPct val="100000"/>
              </a:lnSpc>
              <a:spcBef>
                <a:spcPts val="0"/>
              </a:spcBef>
              <a:spcAft>
                <a:spcPts val="400"/>
              </a:spcAft>
            </a:pPr>
            <a:r>
              <a:rPr sz="2400" b="1" i="0">
                <a:solidFill>
                  <a:srgbClr val="C9A227"/>
                </a:solidFill>
                <a:latin typeface="Trebuchet MS"/>
              </a:rPr>
              <a:t>!</a:t>
            </a:r>
          </a:p>
        </p:txBody>
      </p:sp>
      <p:sp>
        <p:nvSpPr>
          <p:cNvPr id="23" name="TextBox 22"/>
          <p:cNvSpPr txBox="1"/>
          <p:nvPr/>
        </p:nvSpPr>
        <p:spPr>
          <a:xfrm>
            <a:off x="7114032" y="4297679"/>
            <a:ext cx="4617720"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0A2540"/>
                </a:solidFill>
                <a:latin typeface="Trebuchet MS"/>
              </a:rPr>
              <a:t>Enroll + activate need you</a:t>
            </a:r>
          </a:p>
        </p:txBody>
      </p:sp>
      <p:sp>
        <p:nvSpPr>
          <p:cNvPr id="24" name="TextBox 23"/>
          <p:cNvSpPr txBox="1"/>
          <p:nvPr/>
        </p:nvSpPr>
        <p:spPr>
          <a:xfrm>
            <a:off x="7114032" y="4727447"/>
            <a:ext cx="4617720" cy="960119"/>
          </a:xfrm>
          <a:prstGeom prst="rect">
            <a:avLst/>
          </a:prstGeom>
          <a:noFill/>
        </p:spPr>
        <p:txBody>
          <a:bodyPr wrap="square" anchor="t" lIns="0" rIns="0" tIns="0" bIns="0">
            <a:spAutoFit/>
          </a:bodyPr>
          <a:lstStyle/>
          <a:p>
            <a:pPr algn="l">
              <a:lnSpc>
                <a:spcPct val="112000"/>
              </a:lnSpc>
              <a:spcBef>
                <a:spcPts val="0"/>
              </a:spcBef>
              <a:spcAft>
                <a:spcPts val="400"/>
              </a:spcAft>
            </a:pPr>
            <a:r>
              <a:rPr sz="1300" b="0" i="0">
                <a:solidFill>
                  <a:srgbClr val="5B6B7B"/>
                </a:solidFill>
                <a:latin typeface="Calibri"/>
              </a:rPr>
              <a:t>Apollo always requires your explicit confirmation to send. By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058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i="0">
                <a:solidFill>
                  <a:srgbClr val="C9A227"/>
                </a:solidFill>
                <a:latin typeface="Trebuchet MS"/>
              </a:rPr>
              <a:t>REFERENCE</a:t>
            </a:r>
          </a:p>
        </p:txBody>
      </p:sp>
      <p:sp>
        <p:nvSpPr>
          <p:cNvPr id="4" name="TextBox 3"/>
          <p:cNvSpPr txBox="1"/>
          <p:nvPr/>
        </p:nvSpPr>
        <p:spPr>
          <a:xfrm>
            <a:off x="640080" y="749808"/>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0A2540"/>
                </a:solidFill>
                <a:latin typeface="Trebuchet MS"/>
              </a:rPr>
              <a:t>What's in the folder</a:t>
            </a:r>
          </a:p>
        </p:txBody>
      </p:sp>
      <p:sp>
        <p:nvSpPr>
          <p:cNvPr id="5" name="Rectangle 4"/>
          <p:cNvSpPr/>
          <p:nvPr/>
        </p:nvSpPr>
        <p:spPr>
          <a:xfrm>
            <a:off x="640080" y="196596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apollo-onboard-skill/</a:t>
            </a:r>
          </a:p>
        </p:txBody>
      </p:sp>
      <p:sp>
        <p:nvSpPr>
          <p:cNvPr id="7" name="TextBox 6"/>
          <p:cNvSpPr txBox="1"/>
          <p:nvPr/>
        </p:nvSpPr>
        <p:spPr>
          <a:xfrm>
            <a:off x="5760720" y="19659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The 'run apollo setup' skill. Install this first.</a:t>
            </a:r>
          </a:p>
        </p:txBody>
      </p:sp>
      <p:sp>
        <p:nvSpPr>
          <p:cNvPr id="8" name="TextBox 7"/>
          <p:cNvSpPr txBox="1"/>
          <p:nvPr/>
        </p:nvSpPr>
        <p:spPr>
          <a:xfrm>
            <a:off x="822960" y="24231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TEAM-SETUP.md</a:t>
            </a:r>
          </a:p>
        </p:txBody>
      </p:sp>
      <p:sp>
        <p:nvSpPr>
          <p:cNvPr id="9" name="TextBox 8"/>
          <p:cNvSpPr txBox="1"/>
          <p:nvPr/>
        </p:nvSpPr>
        <p:spPr>
          <a:xfrm>
            <a:off x="5760720" y="24231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Written steps, if you'd rather drive it yourself</a:t>
            </a:r>
          </a:p>
        </p:txBody>
      </p:sp>
      <p:sp>
        <p:nvSpPr>
          <p:cNvPr id="10" name="Rectangle 9"/>
          <p:cNvSpPr/>
          <p:nvPr/>
        </p:nvSpPr>
        <p:spPr>
          <a:xfrm>
            <a:off x="640080" y="288036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803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hopper/setup.py</a:t>
            </a:r>
          </a:p>
        </p:txBody>
      </p:sp>
      <p:sp>
        <p:nvSpPr>
          <p:cNvPr id="12" name="TextBox 11"/>
          <p:cNvSpPr txBox="1"/>
          <p:nvPr/>
        </p:nvSpPr>
        <p:spPr>
          <a:xfrm>
            <a:off x="5760720" y="28803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Scaffolds your workspace</a:t>
            </a:r>
          </a:p>
        </p:txBody>
      </p:sp>
      <p:sp>
        <p:nvSpPr>
          <p:cNvPr id="13" name="TextBox 12"/>
          <p:cNvSpPr txBox="1"/>
          <p:nvPr/>
        </p:nvSpPr>
        <p:spPr>
          <a:xfrm>
            <a:off x="822960" y="33375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hopper/rep_config.json</a:t>
            </a:r>
          </a:p>
        </p:txBody>
      </p:sp>
      <p:sp>
        <p:nvSpPr>
          <p:cNvPr id="14" name="TextBox 13"/>
          <p:cNvSpPr txBox="1"/>
          <p:nvPr/>
        </p:nvSpPr>
        <p:spPr>
          <a:xfrm>
            <a:off x="5760720" y="33375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Your identity: Slack, mailbox, sequence</a:t>
            </a:r>
          </a:p>
        </p:txBody>
      </p:sp>
      <p:sp>
        <p:nvSpPr>
          <p:cNvPr id="15" name="Rectangle 14"/>
          <p:cNvSpPr/>
          <p:nvPr/>
        </p:nvSpPr>
        <p:spPr>
          <a:xfrm>
            <a:off x="640080" y="379476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947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hopper/apollo_config.json</a:t>
            </a:r>
          </a:p>
        </p:txBody>
      </p:sp>
      <p:sp>
        <p:nvSpPr>
          <p:cNvPr id="17" name="TextBox 16"/>
          <p:cNvSpPr txBox="1"/>
          <p:nvPr/>
        </p:nvSpPr>
        <p:spPr>
          <a:xfrm>
            <a:off x="5760720" y="37947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Shared Apollo wiring: sequence, custom fields, import spec</a:t>
            </a:r>
          </a:p>
        </p:txBody>
      </p:sp>
      <p:sp>
        <p:nvSpPr>
          <p:cNvPr id="18" name="TextBox 17"/>
          <p:cNvSpPr txBox="1"/>
          <p:nvPr/>
        </p:nvSpPr>
        <p:spPr>
          <a:xfrm>
            <a:off x="822960" y="42519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hopper/hopper.jsonl</a:t>
            </a:r>
          </a:p>
        </p:txBody>
      </p:sp>
      <p:sp>
        <p:nvSpPr>
          <p:cNvPr id="19" name="TextBox 18"/>
          <p:cNvSpPr txBox="1"/>
          <p:nvPr/>
        </p:nvSpPr>
        <p:spPr>
          <a:xfrm>
            <a:off x="5760720" y="42519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Your ranked account queue</a:t>
            </a:r>
          </a:p>
        </p:txBody>
      </p:sp>
      <p:sp>
        <p:nvSpPr>
          <p:cNvPr id="20" name="Rectangle 19"/>
          <p:cNvSpPr/>
          <p:nvPr/>
        </p:nvSpPr>
        <p:spPr>
          <a:xfrm>
            <a:off x="640080" y="470916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7091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hopper/gate.py  ·  digest.py</a:t>
            </a:r>
          </a:p>
        </p:txBody>
      </p:sp>
      <p:sp>
        <p:nvSpPr>
          <p:cNvPr id="22" name="TextBox 21"/>
          <p:cNvSpPr txBox="1"/>
          <p:nvPr/>
        </p:nvSpPr>
        <p:spPr>
          <a:xfrm>
            <a:off x="5760720" y="47091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Queue + gate engine  ·  weekly rollup</a:t>
            </a:r>
          </a:p>
        </p:txBody>
      </p:sp>
      <p:sp>
        <p:nvSpPr>
          <p:cNvPr id="23" name="TextBox 22"/>
          <p:cNvSpPr txBox="1"/>
          <p:nvPr/>
        </p:nvSpPr>
        <p:spPr>
          <a:xfrm>
            <a:off x="822960" y="51663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hopper/MORNING_DRIVER.md</a:t>
            </a:r>
          </a:p>
        </p:txBody>
      </p:sp>
      <p:sp>
        <p:nvSpPr>
          <p:cNvPr id="24" name="TextBox 23"/>
          <p:cNvSpPr txBox="1"/>
          <p:nvPr/>
        </p:nvSpPr>
        <p:spPr>
          <a:xfrm>
            <a:off x="5760720" y="51663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The daily procedure = the scheduled task prompt</a:t>
            </a:r>
          </a:p>
        </p:txBody>
      </p:sp>
      <p:sp>
        <p:nvSpPr>
          <p:cNvPr id="25" name="Rectangle 24"/>
          <p:cNvSpPr/>
          <p:nvPr/>
        </p:nvSpPr>
        <p:spPr>
          <a:xfrm>
            <a:off x="640080" y="5623560"/>
            <a:ext cx="1088136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623560"/>
            <a:ext cx="484632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1" i="0">
                <a:solidFill>
                  <a:srgbClr val="0A2540"/>
                </a:solidFill>
                <a:latin typeface="Courier New"/>
              </a:rPr>
              <a:t>hopper/APOLLO_SETUP.md</a:t>
            </a:r>
          </a:p>
        </p:txBody>
      </p:sp>
      <p:sp>
        <p:nvSpPr>
          <p:cNvPr id="27" name="TextBox 26"/>
          <p:cNvSpPr txBox="1"/>
          <p:nvPr/>
        </p:nvSpPr>
        <p:spPr>
          <a:xfrm>
            <a:off x="5760720" y="5623560"/>
            <a:ext cx="55778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300" b="0" i="0">
                <a:solidFill>
                  <a:srgbClr val="5B6B7B"/>
                </a:solidFill>
                <a:latin typeface="Calibri"/>
              </a:rPr>
              <a:t>One-time Apollo custom-field wiring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058400" cy="1005840"/>
          </a:xfrm>
          <a:prstGeom prst="rect">
            <a:avLst/>
          </a:prstGeom>
          <a:noFill/>
        </p:spPr>
        <p:txBody>
          <a:bodyPr wrap="square" anchor="t" lIns="0" rIns="0" tIns="0" bIns="0">
            <a:spAutoFit/>
          </a:bodyPr>
          <a:lstStyle/>
          <a:p>
            <a:pPr algn="l">
              <a:lnSpc>
                <a:spcPct val="100000"/>
              </a:lnSpc>
              <a:spcBef>
                <a:spcPts val="0"/>
              </a:spcBef>
              <a:spcAft>
                <a:spcPts val="400"/>
              </a:spcAft>
            </a:pPr>
            <a:r>
              <a:rPr sz="4600" b="1" i="0">
                <a:solidFill>
                  <a:srgbClr val="FFFFFF"/>
                </a:solidFill>
                <a:latin typeface="Trebuchet MS"/>
              </a:rPr>
              <a:t>You're live.</a:t>
            </a:r>
          </a:p>
        </p:txBody>
      </p:sp>
      <p:sp>
        <p:nvSpPr>
          <p:cNvPr id="5" name="TextBox 4"/>
          <p:cNvSpPr txBox="1"/>
          <p:nvPr/>
        </p:nvSpPr>
        <p:spPr>
          <a:xfrm>
            <a:off x="822960" y="3291840"/>
            <a:ext cx="9875520" cy="1005840"/>
          </a:xfrm>
          <a:prstGeom prst="rect">
            <a:avLst/>
          </a:prstGeom>
          <a:noFill/>
        </p:spPr>
        <p:txBody>
          <a:bodyPr wrap="square" anchor="t" lIns="0" rIns="0" tIns="0" bIns="0">
            <a:spAutoFit/>
          </a:bodyPr>
          <a:lstStyle/>
          <a:p>
            <a:pPr algn="l">
              <a:lnSpc>
                <a:spcPct val="120000"/>
              </a:lnSpc>
              <a:spcBef>
                <a:spcPts val="0"/>
              </a:spcBef>
              <a:spcAft>
                <a:spcPts val="400"/>
              </a:spcAft>
            </a:pPr>
            <a:r>
              <a:rPr sz="1600" b="0" i="0">
                <a:solidFill>
                  <a:srgbClr val="CADCFC"/>
                </a:solidFill>
                <a:latin typeface="Calibri"/>
              </a:rPr>
              <a:t>Install the skill, type "run apollo setup", answer two prompts, do two clicks in Apollo. The 7am driver works your patch from there.</a:t>
            </a:r>
          </a:p>
        </p:txBody>
      </p:sp>
      <p:sp>
        <p:nvSpPr>
          <p:cNvPr id="6" name="TextBox 5"/>
          <p:cNvSpPr txBox="1"/>
          <p:nvPr/>
        </p:nvSpPr>
        <p:spPr>
          <a:xfrm>
            <a:off x="822960" y="4480560"/>
            <a:ext cx="9875520" cy="548640"/>
          </a:xfrm>
          <a:prstGeom prst="rect">
            <a:avLst/>
          </a:prstGeom>
          <a:noFill/>
        </p:spPr>
        <p:txBody>
          <a:bodyPr wrap="square" anchor="t" lIns="0" rIns="0" tIns="0" bIns="0">
            <a:spAutoFit/>
          </a:bodyPr>
          <a:lstStyle/>
          <a:p>
            <a:pPr algn="l">
              <a:lnSpc>
                <a:spcPct val="100000"/>
              </a:lnSpc>
              <a:spcBef>
                <a:spcPts val="0"/>
              </a:spcBef>
              <a:spcAft>
                <a:spcPts val="400"/>
              </a:spcAft>
            </a:pPr>
            <a:r>
              <a:rPr sz="1300" b="0" i="1">
                <a:solidFill>
                  <a:srgbClr val="9FB2CC"/>
                </a:solidFill>
                <a:latin typeface="Calibri"/>
              </a:rPr>
              <a:t>Full written steps live in TEAM-SETUP.md inside the folder.  Questions: ping Peter.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